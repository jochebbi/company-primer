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1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9"/>
    <p:restoredTop sz="94704"/>
  </p:normalViewPr>
  <p:slideViewPr>
    <p:cSldViewPr snapToGrid="0">
      <p:cViewPr varScale="1">
        <p:scale>
          <a:sx n="98" d="100"/>
          <a:sy n="98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067F2-F105-4255-8695-D8189521D6BA}" type="doc">
      <dgm:prSet loTypeId="urn:microsoft.com/office/officeart/2008/layout/LinedList" loCatId="list" qsTypeId="urn:microsoft.com/office/officeart/2005/8/quickstyle/simple4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1C2194F4-FAE7-4543-BE02-4D0CB2503A75}">
      <dgm:prSet/>
      <dgm:spPr/>
      <dgm:t>
        <a:bodyPr/>
        <a:lstStyle/>
        <a:p>
          <a:r>
            <a:rPr lang="en-US" b="1" dirty="0"/>
            <a:t>Mission Statement: </a:t>
          </a:r>
          <a:r>
            <a:rPr lang="en-US" dirty="0"/>
            <a:t>Drive a sustainable energy future with a commitment to innovation, clean energy, and operational excellence</a:t>
          </a:r>
        </a:p>
      </dgm:t>
    </dgm:pt>
    <dgm:pt modelId="{144B9941-DE09-40F0-93C0-9452BF3BA28D}" type="parTrans" cxnId="{8667FC3A-8807-4E50-A2C9-8CDE4BA63CB8}">
      <dgm:prSet/>
      <dgm:spPr/>
      <dgm:t>
        <a:bodyPr/>
        <a:lstStyle/>
        <a:p>
          <a:endParaRPr lang="en-US"/>
        </a:p>
      </dgm:t>
    </dgm:pt>
    <dgm:pt modelId="{5C9C6EAC-7C54-49E1-87B1-E86F9B079228}" type="sibTrans" cxnId="{8667FC3A-8807-4E50-A2C9-8CDE4BA63CB8}">
      <dgm:prSet/>
      <dgm:spPr/>
      <dgm:t>
        <a:bodyPr/>
        <a:lstStyle/>
        <a:p>
          <a:endParaRPr lang="en-US"/>
        </a:p>
      </dgm:t>
    </dgm:pt>
    <dgm:pt modelId="{982BEBEB-C3E8-4BF0-8233-3AD83ADAACD7}">
      <dgm:prSet/>
      <dgm:spPr/>
      <dgm:t>
        <a:bodyPr/>
        <a:lstStyle/>
        <a:p>
          <a:r>
            <a:rPr lang="en-US" b="1" dirty="0"/>
            <a:t>Vision Statement: </a:t>
          </a:r>
          <a:r>
            <a:rPr lang="en-US" dirty="0"/>
            <a:t>Lead the transformation of the energy sector by advancing clean and reliable energy solutions</a:t>
          </a:r>
        </a:p>
      </dgm:t>
    </dgm:pt>
    <dgm:pt modelId="{0396624C-7994-4013-9B6C-7F0B9EE56F7B}" type="parTrans" cxnId="{E42A983B-61E7-4809-AC25-1C846D2C909F}">
      <dgm:prSet/>
      <dgm:spPr/>
      <dgm:t>
        <a:bodyPr/>
        <a:lstStyle/>
        <a:p>
          <a:endParaRPr lang="en-US"/>
        </a:p>
      </dgm:t>
    </dgm:pt>
    <dgm:pt modelId="{F0217CF0-231F-4928-B765-8C90F06477B0}" type="sibTrans" cxnId="{E42A983B-61E7-4809-AC25-1C846D2C909F}">
      <dgm:prSet/>
      <dgm:spPr/>
      <dgm:t>
        <a:bodyPr/>
        <a:lstStyle/>
        <a:p>
          <a:endParaRPr lang="en-US"/>
        </a:p>
      </dgm:t>
    </dgm:pt>
    <dgm:pt modelId="{53FDAF72-B770-4536-A38B-3FCD7CBF4036}">
      <dgm:prSet/>
      <dgm:spPr/>
      <dgm:t>
        <a:bodyPr/>
        <a:lstStyle/>
        <a:p>
          <a:r>
            <a:rPr lang="en-US" b="1" dirty="0"/>
            <a:t>Values: </a:t>
          </a:r>
        </a:p>
      </dgm:t>
    </dgm:pt>
    <dgm:pt modelId="{10B9C13A-D643-436A-97EA-6115A72B3815}" type="parTrans" cxnId="{FC6149A7-29D6-499C-9416-ADD595CCAF48}">
      <dgm:prSet/>
      <dgm:spPr/>
      <dgm:t>
        <a:bodyPr/>
        <a:lstStyle/>
        <a:p>
          <a:endParaRPr lang="en-US"/>
        </a:p>
      </dgm:t>
    </dgm:pt>
    <dgm:pt modelId="{5019AA38-6EA0-49DC-B001-53BE096B4C25}" type="sibTrans" cxnId="{FC6149A7-29D6-499C-9416-ADD595CCAF48}">
      <dgm:prSet/>
      <dgm:spPr/>
      <dgm:t>
        <a:bodyPr/>
        <a:lstStyle/>
        <a:p>
          <a:endParaRPr lang="en-US"/>
        </a:p>
      </dgm:t>
    </dgm:pt>
    <dgm:pt modelId="{D1F52EEB-86CE-42AE-9914-FBA68DB56089}">
      <dgm:prSet/>
      <dgm:spPr/>
      <dgm:t>
        <a:bodyPr/>
        <a:lstStyle/>
        <a:p>
          <a:r>
            <a:rPr lang="en-US"/>
            <a:t>- Committed to Excellence </a:t>
          </a:r>
        </a:p>
      </dgm:t>
    </dgm:pt>
    <dgm:pt modelId="{9B48120F-6042-4935-986D-67191F671C7F}" type="parTrans" cxnId="{9DBD02B8-F8C7-4EAE-BD2F-3D935FE1CDCE}">
      <dgm:prSet/>
      <dgm:spPr/>
      <dgm:t>
        <a:bodyPr/>
        <a:lstStyle/>
        <a:p>
          <a:endParaRPr lang="en-US"/>
        </a:p>
      </dgm:t>
    </dgm:pt>
    <dgm:pt modelId="{AF9FB6E4-DF90-495F-84BD-2A0723965D14}" type="sibTrans" cxnId="{9DBD02B8-F8C7-4EAE-BD2F-3D935FE1CDCE}">
      <dgm:prSet/>
      <dgm:spPr/>
      <dgm:t>
        <a:bodyPr/>
        <a:lstStyle/>
        <a:p>
          <a:endParaRPr lang="en-US"/>
        </a:p>
      </dgm:t>
    </dgm:pt>
    <dgm:pt modelId="{629C5596-7351-4750-A674-8AA25B038817}">
      <dgm:prSet/>
      <dgm:spPr/>
      <dgm:t>
        <a:bodyPr/>
        <a:lstStyle/>
        <a:p>
          <a:r>
            <a:rPr lang="en-US"/>
            <a:t>- Do the Right Thing</a:t>
          </a:r>
        </a:p>
      </dgm:t>
    </dgm:pt>
    <dgm:pt modelId="{14A8F21D-B736-4D5C-9E4F-5766A9067C64}" type="parTrans" cxnId="{4B150D84-2320-4741-AA90-22DDD2F9F755}">
      <dgm:prSet/>
      <dgm:spPr/>
      <dgm:t>
        <a:bodyPr/>
        <a:lstStyle/>
        <a:p>
          <a:endParaRPr lang="en-US"/>
        </a:p>
      </dgm:t>
    </dgm:pt>
    <dgm:pt modelId="{0D50734B-4BC9-48E8-8C22-512B1E5652A4}" type="sibTrans" cxnId="{4B150D84-2320-4741-AA90-22DDD2F9F755}">
      <dgm:prSet/>
      <dgm:spPr/>
      <dgm:t>
        <a:bodyPr/>
        <a:lstStyle/>
        <a:p>
          <a:endParaRPr lang="en-US"/>
        </a:p>
      </dgm:t>
    </dgm:pt>
    <dgm:pt modelId="{00BE7895-5BB2-423A-A317-8CDD79B441F1}">
      <dgm:prSet/>
      <dgm:spPr/>
      <dgm:t>
        <a:bodyPr/>
        <a:lstStyle/>
        <a:p>
          <a:r>
            <a:rPr lang="en-US"/>
            <a:t>- Treat People with Respect</a:t>
          </a:r>
        </a:p>
      </dgm:t>
    </dgm:pt>
    <dgm:pt modelId="{51B8A83D-C31A-4E84-AAD7-6B6441C17256}" type="parTrans" cxnId="{F438CE8A-2E22-4B9E-A5B1-315767D814E2}">
      <dgm:prSet/>
      <dgm:spPr/>
      <dgm:t>
        <a:bodyPr/>
        <a:lstStyle/>
        <a:p>
          <a:endParaRPr lang="en-US"/>
        </a:p>
      </dgm:t>
    </dgm:pt>
    <dgm:pt modelId="{4C5DF871-FD1B-462B-94C6-1FC97F7F72B3}" type="sibTrans" cxnId="{F438CE8A-2E22-4B9E-A5B1-315767D814E2}">
      <dgm:prSet/>
      <dgm:spPr/>
      <dgm:t>
        <a:bodyPr/>
        <a:lstStyle/>
        <a:p>
          <a:endParaRPr lang="en-US"/>
        </a:p>
      </dgm:t>
    </dgm:pt>
    <dgm:pt modelId="{65F97740-939B-F842-B610-F0A3B881C7D2}" type="pres">
      <dgm:prSet presAssocID="{F1F067F2-F105-4255-8695-D8189521D6BA}" presName="vert0" presStyleCnt="0">
        <dgm:presLayoutVars>
          <dgm:dir/>
          <dgm:animOne val="branch"/>
          <dgm:animLvl val="lvl"/>
        </dgm:presLayoutVars>
      </dgm:prSet>
      <dgm:spPr/>
    </dgm:pt>
    <dgm:pt modelId="{F8713F8C-B043-C64E-92CA-DE5F8D07F0BD}" type="pres">
      <dgm:prSet presAssocID="{1C2194F4-FAE7-4543-BE02-4D0CB2503A75}" presName="thickLine" presStyleLbl="alignNode1" presStyleIdx="0" presStyleCnt="6"/>
      <dgm:spPr/>
    </dgm:pt>
    <dgm:pt modelId="{A98002A7-52D9-D949-8279-963DC2CBCBC4}" type="pres">
      <dgm:prSet presAssocID="{1C2194F4-FAE7-4543-BE02-4D0CB2503A75}" presName="horz1" presStyleCnt="0"/>
      <dgm:spPr/>
    </dgm:pt>
    <dgm:pt modelId="{27EA8B3A-8E3B-4E44-AED5-C4149F10F606}" type="pres">
      <dgm:prSet presAssocID="{1C2194F4-FAE7-4543-BE02-4D0CB2503A75}" presName="tx1" presStyleLbl="revTx" presStyleIdx="0" presStyleCnt="6"/>
      <dgm:spPr/>
    </dgm:pt>
    <dgm:pt modelId="{FABAB162-932B-1948-8EF2-BE9111D3A683}" type="pres">
      <dgm:prSet presAssocID="{1C2194F4-FAE7-4543-BE02-4D0CB2503A75}" presName="vert1" presStyleCnt="0"/>
      <dgm:spPr/>
    </dgm:pt>
    <dgm:pt modelId="{F548D221-8394-EF46-9EC2-2DD75D617BBE}" type="pres">
      <dgm:prSet presAssocID="{982BEBEB-C3E8-4BF0-8233-3AD83ADAACD7}" presName="thickLine" presStyleLbl="alignNode1" presStyleIdx="1" presStyleCnt="6"/>
      <dgm:spPr/>
    </dgm:pt>
    <dgm:pt modelId="{141CAF4B-A55A-9A42-A184-D76CB461508C}" type="pres">
      <dgm:prSet presAssocID="{982BEBEB-C3E8-4BF0-8233-3AD83ADAACD7}" presName="horz1" presStyleCnt="0"/>
      <dgm:spPr/>
    </dgm:pt>
    <dgm:pt modelId="{1B8C45DE-F519-0B4D-B852-8D8B225A318F}" type="pres">
      <dgm:prSet presAssocID="{982BEBEB-C3E8-4BF0-8233-3AD83ADAACD7}" presName="tx1" presStyleLbl="revTx" presStyleIdx="1" presStyleCnt="6"/>
      <dgm:spPr/>
    </dgm:pt>
    <dgm:pt modelId="{98D2505A-7B63-BF4D-9235-D5702697F9A7}" type="pres">
      <dgm:prSet presAssocID="{982BEBEB-C3E8-4BF0-8233-3AD83ADAACD7}" presName="vert1" presStyleCnt="0"/>
      <dgm:spPr/>
    </dgm:pt>
    <dgm:pt modelId="{826F92C8-2C28-CF46-A7CE-A949E275C2CA}" type="pres">
      <dgm:prSet presAssocID="{53FDAF72-B770-4536-A38B-3FCD7CBF4036}" presName="thickLine" presStyleLbl="alignNode1" presStyleIdx="2" presStyleCnt="6"/>
      <dgm:spPr/>
    </dgm:pt>
    <dgm:pt modelId="{F18B5870-25F2-0245-B6B1-FD41188A60F0}" type="pres">
      <dgm:prSet presAssocID="{53FDAF72-B770-4536-A38B-3FCD7CBF4036}" presName="horz1" presStyleCnt="0"/>
      <dgm:spPr/>
    </dgm:pt>
    <dgm:pt modelId="{24949111-809A-BE42-A5DC-F09DA4491EE4}" type="pres">
      <dgm:prSet presAssocID="{53FDAF72-B770-4536-A38B-3FCD7CBF4036}" presName="tx1" presStyleLbl="revTx" presStyleIdx="2" presStyleCnt="6"/>
      <dgm:spPr/>
    </dgm:pt>
    <dgm:pt modelId="{FE79214B-697B-134F-9948-7D946D026D76}" type="pres">
      <dgm:prSet presAssocID="{53FDAF72-B770-4536-A38B-3FCD7CBF4036}" presName="vert1" presStyleCnt="0"/>
      <dgm:spPr/>
    </dgm:pt>
    <dgm:pt modelId="{5F437ED3-C288-EA45-8B20-51AE93AA5361}" type="pres">
      <dgm:prSet presAssocID="{D1F52EEB-86CE-42AE-9914-FBA68DB56089}" presName="thickLine" presStyleLbl="alignNode1" presStyleIdx="3" presStyleCnt="6"/>
      <dgm:spPr/>
    </dgm:pt>
    <dgm:pt modelId="{633D21A7-CC27-C541-8A4E-789D832599FD}" type="pres">
      <dgm:prSet presAssocID="{D1F52EEB-86CE-42AE-9914-FBA68DB56089}" presName="horz1" presStyleCnt="0"/>
      <dgm:spPr/>
    </dgm:pt>
    <dgm:pt modelId="{559ABC4D-3CEA-B64C-9E37-D044946463C7}" type="pres">
      <dgm:prSet presAssocID="{D1F52EEB-86CE-42AE-9914-FBA68DB56089}" presName="tx1" presStyleLbl="revTx" presStyleIdx="3" presStyleCnt="6"/>
      <dgm:spPr/>
    </dgm:pt>
    <dgm:pt modelId="{93086833-4B85-5043-905D-FA00BD4A57FB}" type="pres">
      <dgm:prSet presAssocID="{D1F52EEB-86CE-42AE-9914-FBA68DB56089}" presName="vert1" presStyleCnt="0"/>
      <dgm:spPr/>
    </dgm:pt>
    <dgm:pt modelId="{40A466E6-CB3D-B04F-A288-578085E03A6E}" type="pres">
      <dgm:prSet presAssocID="{629C5596-7351-4750-A674-8AA25B038817}" presName="thickLine" presStyleLbl="alignNode1" presStyleIdx="4" presStyleCnt="6"/>
      <dgm:spPr/>
    </dgm:pt>
    <dgm:pt modelId="{2C3C0620-91FC-374C-9B26-AC714C6A989E}" type="pres">
      <dgm:prSet presAssocID="{629C5596-7351-4750-A674-8AA25B038817}" presName="horz1" presStyleCnt="0"/>
      <dgm:spPr/>
    </dgm:pt>
    <dgm:pt modelId="{8C2CA0D5-6DF8-3F41-AD48-2531D3C45237}" type="pres">
      <dgm:prSet presAssocID="{629C5596-7351-4750-A674-8AA25B038817}" presName="tx1" presStyleLbl="revTx" presStyleIdx="4" presStyleCnt="6"/>
      <dgm:spPr/>
    </dgm:pt>
    <dgm:pt modelId="{E865E0A8-C7E3-4748-9BB8-1C175E7E288D}" type="pres">
      <dgm:prSet presAssocID="{629C5596-7351-4750-A674-8AA25B038817}" presName="vert1" presStyleCnt="0"/>
      <dgm:spPr/>
    </dgm:pt>
    <dgm:pt modelId="{2853B73D-390F-204C-8951-3ABD4F48B6E1}" type="pres">
      <dgm:prSet presAssocID="{00BE7895-5BB2-423A-A317-8CDD79B441F1}" presName="thickLine" presStyleLbl="alignNode1" presStyleIdx="5" presStyleCnt="6"/>
      <dgm:spPr/>
    </dgm:pt>
    <dgm:pt modelId="{E0C23F7C-9D29-CE47-8788-1E9247357C03}" type="pres">
      <dgm:prSet presAssocID="{00BE7895-5BB2-423A-A317-8CDD79B441F1}" presName="horz1" presStyleCnt="0"/>
      <dgm:spPr/>
    </dgm:pt>
    <dgm:pt modelId="{8BA72853-E041-D34F-93AF-326099313A44}" type="pres">
      <dgm:prSet presAssocID="{00BE7895-5BB2-423A-A317-8CDD79B441F1}" presName="tx1" presStyleLbl="revTx" presStyleIdx="5" presStyleCnt="6"/>
      <dgm:spPr/>
    </dgm:pt>
    <dgm:pt modelId="{6436DC20-AB64-3F40-AEAD-5C828D06FA43}" type="pres">
      <dgm:prSet presAssocID="{00BE7895-5BB2-423A-A317-8CDD79B441F1}" presName="vert1" presStyleCnt="0"/>
      <dgm:spPr/>
    </dgm:pt>
  </dgm:ptLst>
  <dgm:cxnLst>
    <dgm:cxn modelId="{3B0DCF02-B61D-FA40-BE1B-09CEB700E67B}" type="presOf" srcId="{629C5596-7351-4750-A674-8AA25B038817}" destId="{8C2CA0D5-6DF8-3F41-AD48-2531D3C45237}" srcOrd="0" destOrd="0" presId="urn:microsoft.com/office/officeart/2008/layout/LinedList"/>
    <dgm:cxn modelId="{3CF3551A-AED4-6E46-A64F-98C25381A1D8}" type="presOf" srcId="{D1F52EEB-86CE-42AE-9914-FBA68DB56089}" destId="{559ABC4D-3CEA-B64C-9E37-D044946463C7}" srcOrd="0" destOrd="0" presId="urn:microsoft.com/office/officeart/2008/layout/LinedList"/>
    <dgm:cxn modelId="{8667FC3A-8807-4E50-A2C9-8CDE4BA63CB8}" srcId="{F1F067F2-F105-4255-8695-D8189521D6BA}" destId="{1C2194F4-FAE7-4543-BE02-4D0CB2503A75}" srcOrd="0" destOrd="0" parTransId="{144B9941-DE09-40F0-93C0-9452BF3BA28D}" sibTransId="{5C9C6EAC-7C54-49E1-87B1-E86F9B079228}"/>
    <dgm:cxn modelId="{E42A983B-61E7-4809-AC25-1C846D2C909F}" srcId="{F1F067F2-F105-4255-8695-D8189521D6BA}" destId="{982BEBEB-C3E8-4BF0-8233-3AD83ADAACD7}" srcOrd="1" destOrd="0" parTransId="{0396624C-7994-4013-9B6C-7F0B9EE56F7B}" sibTransId="{F0217CF0-231F-4928-B765-8C90F06477B0}"/>
    <dgm:cxn modelId="{080F9045-953A-6248-878B-4A237CB40636}" type="presOf" srcId="{F1F067F2-F105-4255-8695-D8189521D6BA}" destId="{65F97740-939B-F842-B610-F0A3B881C7D2}" srcOrd="0" destOrd="0" presId="urn:microsoft.com/office/officeart/2008/layout/LinedList"/>
    <dgm:cxn modelId="{55DBCA4B-AD81-9942-BE44-776BA14426AE}" type="presOf" srcId="{53FDAF72-B770-4536-A38B-3FCD7CBF4036}" destId="{24949111-809A-BE42-A5DC-F09DA4491EE4}" srcOrd="0" destOrd="0" presId="urn:microsoft.com/office/officeart/2008/layout/LinedList"/>
    <dgm:cxn modelId="{F852D665-7E76-BD4A-96A2-48421CC33148}" type="presOf" srcId="{1C2194F4-FAE7-4543-BE02-4D0CB2503A75}" destId="{27EA8B3A-8E3B-4E44-AED5-C4149F10F606}" srcOrd="0" destOrd="0" presId="urn:microsoft.com/office/officeart/2008/layout/LinedList"/>
    <dgm:cxn modelId="{4B150D84-2320-4741-AA90-22DDD2F9F755}" srcId="{F1F067F2-F105-4255-8695-D8189521D6BA}" destId="{629C5596-7351-4750-A674-8AA25B038817}" srcOrd="4" destOrd="0" parTransId="{14A8F21D-B736-4D5C-9E4F-5766A9067C64}" sibTransId="{0D50734B-4BC9-48E8-8C22-512B1E5652A4}"/>
    <dgm:cxn modelId="{F438CE8A-2E22-4B9E-A5B1-315767D814E2}" srcId="{F1F067F2-F105-4255-8695-D8189521D6BA}" destId="{00BE7895-5BB2-423A-A317-8CDD79B441F1}" srcOrd="5" destOrd="0" parTransId="{51B8A83D-C31A-4E84-AAD7-6B6441C17256}" sibTransId="{4C5DF871-FD1B-462B-94C6-1FC97F7F72B3}"/>
    <dgm:cxn modelId="{1B10CB9F-6B02-D449-972D-FAD1494FFB2F}" type="presOf" srcId="{00BE7895-5BB2-423A-A317-8CDD79B441F1}" destId="{8BA72853-E041-D34F-93AF-326099313A44}" srcOrd="0" destOrd="0" presId="urn:microsoft.com/office/officeart/2008/layout/LinedList"/>
    <dgm:cxn modelId="{FC6149A7-29D6-499C-9416-ADD595CCAF48}" srcId="{F1F067F2-F105-4255-8695-D8189521D6BA}" destId="{53FDAF72-B770-4536-A38B-3FCD7CBF4036}" srcOrd="2" destOrd="0" parTransId="{10B9C13A-D643-436A-97EA-6115A72B3815}" sibTransId="{5019AA38-6EA0-49DC-B001-53BE096B4C25}"/>
    <dgm:cxn modelId="{9DBD02B8-F8C7-4EAE-BD2F-3D935FE1CDCE}" srcId="{F1F067F2-F105-4255-8695-D8189521D6BA}" destId="{D1F52EEB-86CE-42AE-9914-FBA68DB56089}" srcOrd="3" destOrd="0" parTransId="{9B48120F-6042-4935-986D-67191F671C7F}" sibTransId="{AF9FB6E4-DF90-495F-84BD-2A0723965D14}"/>
    <dgm:cxn modelId="{F3D64DCA-06BC-844F-9443-7F8686D9A4B0}" type="presOf" srcId="{982BEBEB-C3E8-4BF0-8233-3AD83ADAACD7}" destId="{1B8C45DE-F519-0B4D-B852-8D8B225A318F}" srcOrd="0" destOrd="0" presId="urn:microsoft.com/office/officeart/2008/layout/LinedList"/>
    <dgm:cxn modelId="{AF6DE573-8EB2-514A-A4DD-500BCAA6DA70}" type="presParOf" srcId="{65F97740-939B-F842-B610-F0A3B881C7D2}" destId="{F8713F8C-B043-C64E-92CA-DE5F8D07F0BD}" srcOrd="0" destOrd="0" presId="urn:microsoft.com/office/officeart/2008/layout/LinedList"/>
    <dgm:cxn modelId="{03FCFA8C-D364-B149-A96A-B834F68DF191}" type="presParOf" srcId="{65F97740-939B-F842-B610-F0A3B881C7D2}" destId="{A98002A7-52D9-D949-8279-963DC2CBCBC4}" srcOrd="1" destOrd="0" presId="urn:microsoft.com/office/officeart/2008/layout/LinedList"/>
    <dgm:cxn modelId="{9E447175-98FD-B44B-802C-0484F023C91E}" type="presParOf" srcId="{A98002A7-52D9-D949-8279-963DC2CBCBC4}" destId="{27EA8B3A-8E3B-4E44-AED5-C4149F10F606}" srcOrd="0" destOrd="0" presId="urn:microsoft.com/office/officeart/2008/layout/LinedList"/>
    <dgm:cxn modelId="{20491A44-BD75-0D48-BF88-E4E8756F98F4}" type="presParOf" srcId="{A98002A7-52D9-D949-8279-963DC2CBCBC4}" destId="{FABAB162-932B-1948-8EF2-BE9111D3A683}" srcOrd="1" destOrd="0" presId="urn:microsoft.com/office/officeart/2008/layout/LinedList"/>
    <dgm:cxn modelId="{B03D9FDD-73FA-AD41-93DA-62D9BB155E49}" type="presParOf" srcId="{65F97740-939B-F842-B610-F0A3B881C7D2}" destId="{F548D221-8394-EF46-9EC2-2DD75D617BBE}" srcOrd="2" destOrd="0" presId="urn:microsoft.com/office/officeart/2008/layout/LinedList"/>
    <dgm:cxn modelId="{27D152D1-7EEF-1141-B85E-A837F426A91C}" type="presParOf" srcId="{65F97740-939B-F842-B610-F0A3B881C7D2}" destId="{141CAF4B-A55A-9A42-A184-D76CB461508C}" srcOrd="3" destOrd="0" presId="urn:microsoft.com/office/officeart/2008/layout/LinedList"/>
    <dgm:cxn modelId="{9E2D6DCA-B4A9-DF41-A65D-67099EB98E89}" type="presParOf" srcId="{141CAF4B-A55A-9A42-A184-D76CB461508C}" destId="{1B8C45DE-F519-0B4D-B852-8D8B225A318F}" srcOrd="0" destOrd="0" presId="urn:microsoft.com/office/officeart/2008/layout/LinedList"/>
    <dgm:cxn modelId="{80F32532-68D8-EA46-94E4-3AD51AAD68EE}" type="presParOf" srcId="{141CAF4B-A55A-9A42-A184-D76CB461508C}" destId="{98D2505A-7B63-BF4D-9235-D5702697F9A7}" srcOrd="1" destOrd="0" presId="urn:microsoft.com/office/officeart/2008/layout/LinedList"/>
    <dgm:cxn modelId="{AF34F352-07B9-A44B-BE44-ED23243C60B5}" type="presParOf" srcId="{65F97740-939B-F842-B610-F0A3B881C7D2}" destId="{826F92C8-2C28-CF46-A7CE-A949E275C2CA}" srcOrd="4" destOrd="0" presId="urn:microsoft.com/office/officeart/2008/layout/LinedList"/>
    <dgm:cxn modelId="{35C97970-E33B-C645-9379-6599CBAA80EE}" type="presParOf" srcId="{65F97740-939B-F842-B610-F0A3B881C7D2}" destId="{F18B5870-25F2-0245-B6B1-FD41188A60F0}" srcOrd="5" destOrd="0" presId="urn:microsoft.com/office/officeart/2008/layout/LinedList"/>
    <dgm:cxn modelId="{7BCA6859-3777-6844-953D-C7DA6290E8AE}" type="presParOf" srcId="{F18B5870-25F2-0245-B6B1-FD41188A60F0}" destId="{24949111-809A-BE42-A5DC-F09DA4491EE4}" srcOrd="0" destOrd="0" presId="urn:microsoft.com/office/officeart/2008/layout/LinedList"/>
    <dgm:cxn modelId="{D5AB0CD9-9ECD-E442-A787-33CA018160A9}" type="presParOf" srcId="{F18B5870-25F2-0245-B6B1-FD41188A60F0}" destId="{FE79214B-697B-134F-9948-7D946D026D76}" srcOrd="1" destOrd="0" presId="urn:microsoft.com/office/officeart/2008/layout/LinedList"/>
    <dgm:cxn modelId="{A52DF00D-AD2D-1C49-A63C-28DBF31403CF}" type="presParOf" srcId="{65F97740-939B-F842-B610-F0A3B881C7D2}" destId="{5F437ED3-C288-EA45-8B20-51AE93AA5361}" srcOrd="6" destOrd="0" presId="urn:microsoft.com/office/officeart/2008/layout/LinedList"/>
    <dgm:cxn modelId="{72CA77D9-6016-9741-82F5-22DC990FC1D0}" type="presParOf" srcId="{65F97740-939B-F842-B610-F0A3B881C7D2}" destId="{633D21A7-CC27-C541-8A4E-789D832599FD}" srcOrd="7" destOrd="0" presId="urn:microsoft.com/office/officeart/2008/layout/LinedList"/>
    <dgm:cxn modelId="{F5A0C646-51BC-0A48-90E7-A8F1FD8040E1}" type="presParOf" srcId="{633D21A7-CC27-C541-8A4E-789D832599FD}" destId="{559ABC4D-3CEA-B64C-9E37-D044946463C7}" srcOrd="0" destOrd="0" presId="urn:microsoft.com/office/officeart/2008/layout/LinedList"/>
    <dgm:cxn modelId="{63AD7845-3816-1045-9831-E445FC8E4A40}" type="presParOf" srcId="{633D21A7-CC27-C541-8A4E-789D832599FD}" destId="{93086833-4B85-5043-905D-FA00BD4A57FB}" srcOrd="1" destOrd="0" presId="urn:microsoft.com/office/officeart/2008/layout/LinedList"/>
    <dgm:cxn modelId="{35C96F17-21B4-4349-8F02-2392A5B6BC04}" type="presParOf" srcId="{65F97740-939B-F842-B610-F0A3B881C7D2}" destId="{40A466E6-CB3D-B04F-A288-578085E03A6E}" srcOrd="8" destOrd="0" presId="urn:microsoft.com/office/officeart/2008/layout/LinedList"/>
    <dgm:cxn modelId="{F771436D-5023-204A-B9C8-0BF29F9DA43B}" type="presParOf" srcId="{65F97740-939B-F842-B610-F0A3B881C7D2}" destId="{2C3C0620-91FC-374C-9B26-AC714C6A989E}" srcOrd="9" destOrd="0" presId="urn:microsoft.com/office/officeart/2008/layout/LinedList"/>
    <dgm:cxn modelId="{903BD35F-5630-B449-A402-30E4F97F3131}" type="presParOf" srcId="{2C3C0620-91FC-374C-9B26-AC714C6A989E}" destId="{8C2CA0D5-6DF8-3F41-AD48-2531D3C45237}" srcOrd="0" destOrd="0" presId="urn:microsoft.com/office/officeart/2008/layout/LinedList"/>
    <dgm:cxn modelId="{8EAE0338-6EC8-8546-8C5D-992A2DC9A44C}" type="presParOf" srcId="{2C3C0620-91FC-374C-9B26-AC714C6A989E}" destId="{E865E0A8-C7E3-4748-9BB8-1C175E7E288D}" srcOrd="1" destOrd="0" presId="urn:microsoft.com/office/officeart/2008/layout/LinedList"/>
    <dgm:cxn modelId="{824FD978-F1FE-D745-B435-67A93B97B3C2}" type="presParOf" srcId="{65F97740-939B-F842-B610-F0A3B881C7D2}" destId="{2853B73D-390F-204C-8951-3ABD4F48B6E1}" srcOrd="10" destOrd="0" presId="urn:microsoft.com/office/officeart/2008/layout/LinedList"/>
    <dgm:cxn modelId="{F4FCEC02-2AB7-8845-B0AD-58499B01E80A}" type="presParOf" srcId="{65F97740-939B-F842-B610-F0A3B881C7D2}" destId="{E0C23F7C-9D29-CE47-8788-1E9247357C03}" srcOrd="11" destOrd="0" presId="urn:microsoft.com/office/officeart/2008/layout/LinedList"/>
    <dgm:cxn modelId="{22894925-B379-4542-8102-1B12EC0ACB7E}" type="presParOf" srcId="{E0C23F7C-9D29-CE47-8788-1E9247357C03}" destId="{8BA72853-E041-D34F-93AF-326099313A44}" srcOrd="0" destOrd="0" presId="urn:microsoft.com/office/officeart/2008/layout/LinedList"/>
    <dgm:cxn modelId="{09012534-8D8F-A14A-8DA5-3A0A65405849}" type="presParOf" srcId="{E0C23F7C-9D29-CE47-8788-1E9247357C03}" destId="{6436DC20-AB64-3F40-AEAD-5C828D06FA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C5A26A-F8D0-874B-8C35-6B2891F009B4}" type="doc">
      <dgm:prSet loTypeId="urn:microsoft.com/office/officeart/2018/2/layout/IconCircleList" loCatId="icon" qsTypeId="urn:microsoft.com/office/officeart/2005/8/quickstyle/simple1#1" qsCatId="simple" csTypeId="urn:microsoft.com/office/officeart/2018/5/colors/Iconchunking_neutralicon_colorful1" csCatId="colorful" phldr="1"/>
      <dgm:spPr/>
      <dgm:t>
        <a:bodyPr/>
        <a:lstStyle/>
        <a:p>
          <a:endParaRPr lang="en-GB"/>
        </a:p>
      </dgm:t>
    </dgm:pt>
    <dgm:pt modelId="{A4C4113F-7F6C-3D4E-A7F3-ABA927BC4C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Florida Power &amp; Light (FPL): Largest electric utility in Florida, serving ~6 million customers.</a:t>
          </a:r>
          <a:endParaRPr lang="en-FR" dirty="0"/>
        </a:p>
      </dgm:t>
    </dgm:pt>
    <dgm:pt modelId="{E18A581C-394B-7D46-9D7A-5FB9C7CB7C88}" type="parTrans" cxnId="{7CE06D1D-F55D-3B4E-BEE2-B0BF87B2F62D}">
      <dgm:prSet/>
      <dgm:spPr/>
      <dgm:t>
        <a:bodyPr/>
        <a:lstStyle/>
        <a:p>
          <a:endParaRPr lang="en-GB"/>
        </a:p>
      </dgm:t>
    </dgm:pt>
    <dgm:pt modelId="{1090D3C3-F61B-D54D-88C8-73A31C1BA1B2}" type="sibTrans" cxnId="{7CE06D1D-F55D-3B4E-BEE2-B0BF87B2F62D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</dgm:t>
    </dgm:pt>
    <dgm:pt modelId="{6E74CADA-6E03-0048-B2A9-7DF8D8CD79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NextEra Energy Resources (NEER): Leading renewable energy provider (wind, solar, battery storage).</a:t>
          </a:r>
          <a:endParaRPr lang="en-FR"/>
        </a:p>
      </dgm:t>
    </dgm:pt>
    <dgm:pt modelId="{E2DCA464-61D0-3D4A-91AD-DE7ADB5B7350}" type="parTrans" cxnId="{F63BC817-4929-AC48-8049-632B7B896B04}">
      <dgm:prSet/>
      <dgm:spPr/>
      <dgm:t>
        <a:bodyPr/>
        <a:lstStyle/>
        <a:p>
          <a:endParaRPr lang="en-GB"/>
        </a:p>
      </dgm:t>
    </dgm:pt>
    <dgm:pt modelId="{3165BB91-A827-AE44-870B-9D7A3AB33E91}" type="sibTrans" cxnId="{F63BC817-4929-AC48-8049-632B7B896B04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</dgm:t>
    </dgm:pt>
    <dgm:pt modelId="{E2266101-1F27-C14C-A8F9-2564D3DB8A7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Infrastructure Investments: High-voltage transmission, hydrogen power, and battery storage projects.</a:t>
          </a:r>
          <a:endParaRPr lang="en-FR"/>
        </a:p>
      </dgm:t>
    </dgm:pt>
    <dgm:pt modelId="{0864811D-D401-D94F-8812-FB5B38922BD8}" type="parTrans" cxnId="{F4293D5C-541B-AA4B-BABC-9AADF546E87A}">
      <dgm:prSet/>
      <dgm:spPr/>
      <dgm:t>
        <a:bodyPr/>
        <a:lstStyle/>
        <a:p>
          <a:endParaRPr lang="en-GB"/>
        </a:p>
      </dgm:t>
    </dgm:pt>
    <dgm:pt modelId="{F1087978-0585-8847-8C77-1084F043F646}" type="sibTrans" cxnId="{F4293D5C-541B-AA4B-BABC-9AADF546E87A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</dgm:t>
    </dgm:pt>
    <dgm:pt modelId="{AFAC0974-E911-5442-B3CF-5C1804FF44B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Energy Trading &amp; Wholesale Power: Strategic power supply services to utilities and large corporations.</a:t>
          </a:r>
          <a:endParaRPr lang="en-FR"/>
        </a:p>
      </dgm:t>
    </dgm:pt>
    <dgm:pt modelId="{57F41650-D248-8C4A-AFB6-627A26C79C7C}" type="parTrans" cxnId="{ED614D4C-A8AD-4546-808B-318DAD384E7C}">
      <dgm:prSet/>
      <dgm:spPr/>
      <dgm:t>
        <a:bodyPr/>
        <a:lstStyle/>
        <a:p>
          <a:endParaRPr lang="en-GB"/>
        </a:p>
      </dgm:t>
    </dgm:pt>
    <dgm:pt modelId="{5E4DE278-6F88-E84A-A29E-8701FC6F2FDB}" type="sibTrans" cxnId="{ED614D4C-A8AD-4546-808B-318DAD384E7C}">
      <dgm:prSet/>
      <dgm:spPr/>
      <dgm:t>
        <a:bodyPr/>
        <a:lstStyle/>
        <a:p>
          <a:endParaRPr lang="en-GB"/>
        </a:p>
      </dgm:t>
    </dgm:pt>
    <dgm:pt modelId="{61780ED0-F7C0-401D-907D-71CAC8C6374E}" type="pres">
      <dgm:prSet presAssocID="{61C5A26A-F8D0-874B-8C35-6B2891F009B4}" presName="root" presStyleCnt="0">
        <dgm:presLayoutVars>
          <dgm:dir/>
          <dgm:resizeHandles val="exact"/>
        </dgm:presLayoutVars>
      </dgm:prSet>
      <dgm:spPr/>
    </dgm:pt>
    <dgm:pt modelId="{72AE7565-27D1-4BFB-97C1-2700FF16A964}" type="pres">
      <dgm:prSet presAssocID="{61C5A26A-F8D0-874B-8C35-6B2891F009B4}" presName="container" presStyleCnt="0">
        <dgm:presLayoutVars>
          <dgm:dir/>
          <dgm:resizeHandles val="exact"/>
        </dgm:presLayoutVars>
      </dgm:prSet>
      <dgm:spPr/>
    </dgm:pt>
    <dgm:pt modelId="{F6582B1A-61A4-4A4E-8D8F-55E26153E4E1}" type="pres">
      <dgm:prSet presAssocID="{A4C4113F-7F6C-3D4E-A7F3-ABA927BC4C31}" presName="compNode" presStyleCnt="0"/>
      <dgm:spPr/>
    </dgm:pt>
    <dgm:pt modelId="{C0488206-8958-46DD-9546-AB7F0613A991}" type="pres">
      <dgm:prSet presAssocID="{A4C4113F-7F6C-3D4E-A7F3-ABA927BC4C31}" presName="iconBgRect" presStyleLbl="bgShp" presStyleIdx="0" presStyleCnt="4"/>
      <dgm:spPr/>
    </dgm:pt>
    <dgm:pt modelId="{6AF71B7A-F35A-45FE-BB32-F73E63BBBD2F}" type="pres">
      <dgm:prSet presAssocID="{A4C4113F-7F6C-3D4E-A7F3-ABA927BC4C3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ical scene"/>
        </a:ext>
      </dgm:extLst>
    </dgm:pt>
    <dgm:pt modelId="{5DDF116C-1301-4DF8-BA17-68442C6D6E60}" type="pres">
      <dgm:prSet presAssocID="{A4C4113F-7F6C-3D4E-A7F3-ABA927BC4C31}" presName="spaceRect" presStyleCnt="0"/>
      <dgm:spPr/>
    </dgm:pt>
    <dgm:pt modelId="{48733662-9C8D-4268-89B7-D0DC076D5BA5}" type="pres">
      <dgm:prSet presAssocID="{A4C4113F-7F6C-3D4E-A7F3-ABA927BC4C31}" presName="textRect" presStyleLbl="revTx" presStyleIdx="0" presStyleCnt="4">
        <dgm:presLayoutVars>
          <dgm:chMax val="1"/>
          <dgm:chPref val="1"/>
        </dgm:presLayoutVars>
      </dgm:prSet>
      <dgm:spPr/>
    </dgm:pt>
    <dgm:pt modelId="{57FC949F-FEF4-4AAA-8919-8333F9EBA3B5}" type="pres">
      <dgm:prSet presAssocID="{1090D3C3-F61B-D54D-88C8-73A31C1BA1B2}" presName="sibTrans" presStyleLbl="sibTrans2D1" presStyleIdx="0" presStyleCnt="0"/>
      <dgm:spPr/>
    </dgm:pt>
    <dgm:pt modelId="{24F2C528-0E58-49F0-B6A2-738AC1CBCA1F}" type="pres">
      <dgm:prSet presAssocID="{6E74CADA-6E03-0048-B2A9-7DF8D8CD7931}" presName="compNode" presStyleCnt="0"/>
      <dgm:spPr/>
    </dgm:pt>
    <dgm:pt modelId="{F272633A-FB11-4490-981F-FA2E60B7B2A8}" type="pres">
      <dgm:prSet presAssocID="{6E74CADA-6E03-0048-B2A9-7DF8D8CD7931}" presName="iconBgRect" presStyleLbl="bgShp" presStyleIdx="1" presStyleCnt="4"/>
      <dgm:spPr/>
    </dgm:pt>
    <dgm:pt modelId="{F5C46057-908C-471C-86A2-BADB9F0205AD}" type="pres">
      <dgm:prSet presAssocID="{6E74CADA-6E03-0048-B2A9-7DF8D8CD793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FD8FAC2B-47EE-4976-9338-86DB0FC6866D}" type="pres">
      <dgm:prSet presAssocID="{6E74CADA-6E03-0048-B2A9-7DF8D8CD7931}" presName="spaceRect" presStyleCnt="0"/>
      <dgm:spPr/>
    </dgm:pt>
    <dgm:pt modelId="{B2C351E4-7FD2-4345-A40C-DF694EEC46DD}" type="pres">
      <dgm:prSet presAssocID="{6E74CADA-6E03-0048-B2A9-7DF8D8CD7931}" presName="textRect" presStyleLbl="revTx" presStyleIdx="1" presStyleCnt="4">
        <dgm:presLayoutVars>
          <dgm:chMax val="1"/>
          <dgm:chPref val="1"/>
        </dgm:presLayoutVars>
      </dgm:prSet>
      <dgm:spPr/>
    </dgm:pt>
    <dgm:pt modelId="{88CC8B31-5429-408C-B0BC-9F8CA8B6561A}" type="pres">
      <dgm:prSet presAssocID="{3165BB91-A827-AE44-870B-9D7A3AB33E91}" presName="sibTrans" presStyleLbl="sibTrans2D1" presStyleIdx="0" presStyleCnt="0"/>
      <dgm:spPr/>
    </dgm:pt>
    <dgm:pt modelId="{7FD68CA7-EFC0-4E1E-9269-40192FE12EE4}" type="pres">
      <dgm:prSet presAssocID="{E2266101-1F27-C14C-A8F9-2564D3DB8A72}" presName="compNode" presStyleCnt="0"/>
      <dgm:spPr/>
    </dgm:pt>
    <dgm:pt modelId="{B3AE1DB8-0F1B-4009-B9FD-A8A5C80A3EE1}" type="pres">
      <dgm:prSet presAssocID="{E2266101-1F27-C14C-A8F9-2564D3DB8A72}" presName="iconBgRect" presStyleLbl="bgShp" presStyleIdx="2" presStyleCnt="4"/>
      <dgm:spPr/>
    </dgm:pt>
    <dgm:pt modelId="{2FD92D3D-D486-47F1-B604-39D9DC06403D}" type="pres">
      <dgm:prSet presAssocID="{E2266101-1F27-C14C-A8F9-2564D3DB8A7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056B9966-5D2F-4CE6-A2A2-BE79CBF745BE}" type="pres">
      <dgm:prSet presAssocID="{E2266101-1F27-C14C-A8F9-2564D3DB8A72}" presName="spaceRect" presStyleCnt="0"/>
      <dgm:spPr/>
    </dgm:pt>
    <dgm:pt modelId="{F201ED9F-4288-4D8F-A885-C063D7C1455C}" type="pres">
      <dgm:prSet presAssocID="{E2266101-1F27-C14C-A8F9-2564D3DB8A72}" presName="textRect" presStyleLbl="revTx" presStyleIdx="2" presStyleCnt="4">
        <dgm:presLayoutVars>
          <dgm:chMax val="1"/>
          <dgm:chPref val="1"/>
        </dgm:presLayoutVars>
      </dgm:prSet>
      <dgm:spPr/>
    </dgm:pt>
    <dgm:pt modelId="{1C101D8F-279A-4B7E-9120-2859322E98AB}" type="pres">
      <dgm:prSet presAssocID="{F1087978-0585-8847-8C77-1084F043F646}" presName="sibTrans" presStyleLbl="sibTrans2D1" presStyleIdx="0" presStyleCnt="0"/>
      <dgm:spPr/>
    </dgm:pt>
    <dgm:pt modelId="{8BF5FCE3-7C04-4159-AA13-31FB2900171B}" type="pres">
      <dgm:prSet presAssocID="{AFAC0974-E911-5442-B3CF-5C1804FF44BC}" presName="compNode" presStyleCnt="0"/>
      <dgm:spPr/>
    </dgm:pt>
    <dgm:pt modelId="{A8E9B660-BA96-4F43-8954-28D733BE5AEA}" type="pres">
      <dgm:prSet presAssocID="{AFAC0974-E911-5442-B3CF-5C1804FF44BC}" presName="iconBgRect" presStyleLbl="bgShp" presStyleIdx="3" presStyleCnt="4"/>
      <dgm:spPr/>
    </dgm:pt>
    <dgm:pt modelId="{37A606C4-0EC0-4D2F-86B4-B31D6C3D2F68}" type="pres">
      <dgm:prSet presAssocID="{AFAC0974-E911-5442-B3CF-5C1804FF44B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E4D18846-6950-481C-BB3B-5EA859D2BE18}" type="pres">
      <dgm:prSet presAssocID="{AFAC0974-E911-5442-B3CF-5C1804FF44BC}" presName="spaceRect" presStyleCnt="0"/>
      <dgm:spPr/>
    </dgm:pt>
    <dgm:pt modelId="{993E1FEC-799D-418B-AC02-951D24A18A32}" type="pres">
      <dgm:prSet presAssocID="{AFAC0974-E911-5442-B3CF-5C1804FF44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92DB04-24BD-314F-B619-F47C72286BF3}" type="presOf" srcId="{AFAC0974-E911-5442-B3CF-5C1804FF44BC}" destId="{993E1FEC-799D-418B-AC02-951D24A18A32}" srcOrd="0" destOrd="0" presId="urn:microsoft.com/office/officeart/2018/2/layout/IconCircleList"/>
    <dgm:cxn modelId="{E04AD107-6396-CB4A-AC90-A2B92FFED0AC}" type="presOf" srcId="{61C5A26A-F8D0-874B-8C35-6B2891F009B4}" destId="{61780ED0-F7C0-401D-907D-71CAC8C6374E}" srcOrd="0" destOrd="0" presId="urn:microsoft.com/office/officeart/2018/2/layout/IconCircleList"/>
    <dgm:cxn modelId="{F63BC817-4929-AC48-8049-632B7B896B04}" srcId="{61C5A26A-F8D0-874B-8C35-6B2891F009B4}" destId="{6E74CADA-6E03-0048-B2A9-7DF8D8CD7931}" srcOrd="1" destOrd="0" parTransId="{E2DCA464-61D0-3D4A-91AD-DE7ADB5B7350}" sibTransId="{3165BB91-A827-AE44-870B-9D7A3AB33E91}"/>
    <dgm:cxn modelId="{7CE06D1D-F55D-3B4E-BEE2-B0BF87B2F62D}" srcId="{61C5A26A-F8D0-874B-8C35-6B2891F009B4}" destId="{A4C4113F-7F6C-3D4E-A7F3-ABA927BC4C31}" srcOrd="0" destOrd="0" parTransId="{E18A581C-394B-7D46-9D7A-5FB9C7CB7C88}" sibTransId="{1090D3C3-F61B-D54D-88C8-73A31C1BA1B2}"/>
    <dgm:cxn modelId="{87B1A941-835E-0848-A6B3-5D0BF7CAE0E0}" type="presOf" srcId="{A4C4113F-7F6C-3D4E-A7F3-ABA927BC4C31}" destId="{48733662-9C8D-4268-89B7-D0DC076D5BA5}" srcOrd="0" destOrd="0" presId="urn:microsoft.com/office/officeart/2018/2/layout/IconCircleList"/>
    <dgm:cxn modelId="{ED614D4C-A8AD-4546-808B-318DAD384E7C}" srcId="{61C5A26A-F8D0-874B-8C35-6B2891F009B4}" destId="{AFAC0974-E911-5442-B3CF-5C1804FF44BC}" srcOrd="3" destOrd="0" parTransId="{57F41650-D248-8C4A-AFB6-627A26C79C7C}" sibTransId="{5E4DE278-6F88-E84A-A29E-8701FC6F2FDB}"/>
    <dgm:cxn modelId="{F4293D5C-541B-AA4B-BABC-9AADF546E87A}" srcId="{61C5A26A-F8D0-874B-8C35-6B2891F009B4}" destId="{E2266101-1F27-C14C-A8F9-2564D3DB8A72}" srcOrd="2" destOrd="0" parTransId="{0864811D-D401-D94F-8812-FB5B38922BD8}" sibTransId="{F1087978-0585-8847-8C77-1084F043F646}"/>
    <dgm:cxn modelId="{03C1FD68-C91E-6146-8FCC-588D2471ABF8}" type="presOf" srcId="{3165BB91-A827-AE44-870B-9D7A3AB33E91}" destId="{88CC8B31-5429-408C-B0BC-9F8CA8B6561A}" srcOrd="0" destOrd="0" presId="urn:microsoft.com/office/officeart/2018/2/layout/IconCircleList"/>
    <dgm:cxn modelId="{21365995-4B7D-3F46-AAC5-C7DD39B727F9}" type="presOf" srcId="{E2266101-1F27-C14C-A8F9-2564D3DB8A72}" destId="{F201ED9F-4288-4D8F-A885-C063D7C1455C}" srcOrd="0" destOrd="0" presId="urn:microsoft.com/office/officeart/2018/2/layout/IconCircleList"/>
    <dgm:cxn modelId="{084C8A95-DA3C-BA48-AA13-7214927D4F61}" type="presOf" srcId="{6E74CADA-6E03-0048-B2A9-7DF8D8CD7931}" destId="{B2C351E4-7FD2-4345-A40C-DF694EEC46DD}" srcOrd="0" destOrd="0" presId="urn:microsoft.com/office/officeart/2018/2/layout/IconCircleList"/>
    <dgm:cxn modelId="{9F0B18B4-DD74-BA4C-B23F-920F1D2BAE8E}" type="presOf" srcId="{F1087978-0585-8847-8C77-1084F043F646}" destId="{1C101D8F-279A-4B7E-9120-2859322E98AB}" srcOrd="0" destOrd="0" presId="urn:microsoft.com/office/officeart/2018/2/layout/IconCircleList"/>
    <dgm:cxn modelId="{E05604F4-F31D-B746-AB31-199AD8C07F88}" type="presOf" srcId="{1090D3C3-F61B-D54D-88C8-73A31C1BA1B2}" destId="{57FC949F-FEF4-4AAA-8919-8333F9EBA3B5}" srcOrd="0" destOrd="0" presId="urn:microsoft.com/office/officeart/2018/2/layout/IconCircleList"/>
    <dgm:cxn modelId="{266D587D-3AFD-8243-AE0C-67A514086AE7}" type="presParOf" srcId="{61780ED0-F7C0-401D-907D-71CAC8C6374E}" destId="{72AE7565-27D1-4BFB-97C1-2700FF16A964}" srcOrd="0" destOrd="0" presId="urn:microsoft.com/office/officeart/2018/2/layout/IconCircleList"/>
    <dgm:cxn modelId="{EC104B7B-1426-354E-A8B6-A1EFBAEE3915}" type="presParOf" srcId="{72AE7565-27D1-4BFB-97C1-2700FF16A964}" destId="{F6582B1A-61A4-4A4E-8D8F-55E26153E4E1}" srcOrd="0" destOrd="0" presId="urn:microsoft.com/office/officeart/2018/2/layout/IconCircleList"/>
    <dgm:cxn modelId="{014C2901-C92F-5A43-A936-1D276A4AB2CF}" type="presParOf" srcId="{F6582B1A-61A4-4A4E-8D8F-55E26153E4E1}" destId="{C0488206-8958-46DD-9546-AB7F0613A991}" srcOrd="0" destOrd="0" presId="urn:microsoft.com/office/officeart/2018/2/layout/IconCircleList"/>
    <dgm:cxn modelId="{D84198D2-BCF2-994F-A19E-1ADC599788C8}" type="presParOf" srcId="{F6582B1A-61A4-4A4E-8D8F-55E26153E4E1}" destId="{6AF71B7A-F35A-45FE-BB32-F73E63BBBD2F}" srcOrd="1" destOrd="0" presId="urn:microsoft.com/office/officeart/2018/2/layout/IconCircleList"/>
    <dgm:cxn modelId="{FC2F9274-B6C7-4D44-B387-FF2657BEB242}" type="presParOf" srcId="{F6582B1A-61A4-4A4E-8D8F-55E26153E4E1}" destId="{5DDF116C-1301-4DF8-BA17-68442C6D6E60}" srcOrd="2" destOrd="0" presId="urn:microsoft.com/office/officeart/2018/2/layout/IconCircleList"/>
    <dgm:cxn modelId="{83B55EC3-3596-DF4C-847D-7D9E77F72118}" type="presParOf" srcId="{F6582B1A-61A4-4A4E-8D8F-55E26153E4E1}" destId="{48733662-9C8D-4268-89B7-D0DC076D5BA5}" srcOrd="3" destOrd="0" presId="urn:microsoft.com/office/officeart/2018/2/layout/IconCircleList"/>
    <dgm:cxn modelId="{BC6FA6F1-D768-494C-9E1C-D4951FC02144}" type="presParOf" srcId="{72AE7565-27D1-4BFB-97C1-2700FF16A964}" destId="{57FC949F-FEF4-4AAA-8919-8333F9EBA3B5}" srcOrd="1" destOrd="0" presId="urn:microsoft.com/office/officeart/2018/2/layout/IconCircleList"/>
    <dgm:cxn modelId="{0A9EDC13-E186-084F-8718-E37BF3DE3F42}" type="presParOf" srcId="{72AE7565-27D1-4BFB-97C1-2700FF16A964}" destId="{24F2C528-0E58-49F0-B6A2-738AC1CBCA1F}" srcOrd="2" destOrd="0" presId="urn:microsoft.com/office/officeart/2018/2/layout/IconCircleList"/>
    <dgm:cxn modelId="{0F431C2E-D21C-F443-9A12-CEA5317095F5}" type="presParOf" srcId="{24F2C528-0E58-49F0-B6A2-738AC1CBCA1F}" destId="{F272633A-FB11-4490-981F-FA2E60B7B2A8}" srcOrd="0" destOrd="0" presId="urn:microsoft.com/office/officeart/2018/2/layout/IconCircleList"/>
    <dgm:cxn modelId="{84C9CB5E-C5F1-814E-8AD3-47FCD1AD2191}" type="presParOf" srcId="{24F2C528-0E58-49F0-B6A2-738AC1CBCA1F}" destId="{F5C46057-908C-471C-86A2-BADB9F0205AD}" srcOrd="1" destOrd="0" presId="urn:microsoft.com/office/officeart/2018/2/layout/IconCircleList"/>
    <dgm:cxn modelId="{20F75BAD-A44A-7F46-B5B7-19E6F6D1A435}" type="presParOf" srcId="{24F2C528-0E58-49F0-B6A2-738AC1CBCA1F}" destId="{FD8FAC2B-47EE-4976-9338-86DB0FC6866D}" srcOrd="2" destOrd="0" presId="urn:microsoft.com/office/officeart/2018/2/layout/IconCircleList"/>
    <dgm:cxn modelId="{2E97E4D2-8A74-BE46-8091-D8CD9C4F9752}" type="presParOf" srcId="{24F2C528-0E58-49F0-B6A2-738AC1CBCA1F}" destId="{B2C351E4-7FD2-4345-A40C-DF694EEC46DD}" srcOrd="3" destOrd="0" presId="urn:microsoft.com/office/officeart/2018/2/layout/IconCircleList"/>
    <dgm:cxn modelId="{190E07AF-010C-D34D-A6ED-2E8341B6F8F0}" type="presParOf" srcId="{72AE7565-27D1-4BFB-97C1-2700FF16A964}" destId="{88CC8B31-5429-408C-B0BC-9F8CA8B6561A}" srcOrd="3" destOrd="0" presId="urn:microsoft.com/office/officeart/2018/2/layout/IconCircleList"/>
    <dgm:cxn modelId="{C9D7F9B3-1ACC-964C-9A8D-BC64A7EAF378}" type="presParOf" srcId="{72AE7565-27D1-4BFB-97C1-2700FF16A964}" destId="{7FD68CA7-EFC0-4E1E-9269-40192FE12EE4}" srcOrd="4" destOrd="0" presId="urn:microsoft.com/office/officeart/2018/2/layout/IconCircleList"/>
    <dgm:cxn modelId="{3C03C214-AAB1-8341-95C2-FDC917422991}" type="presParOf" srcId="{7FD68CA7-EFC0-4E1E-9269-40192FE12EE4}" destId="{B3AE1DB8-0F1B-4009-B9FD-A8A5C80A3EE1}" srcOrd="0" destOrd="0" presId="urn:microsoft.com/office/officeart/2018/2/layout/IconCircleList"/>
    <dgm:cxn modelId="{C64B865E-89E0-B44C-8E53-762E9AAEAC0D}" type="presParOf" srcId="{7FD68CA7-EFC0-4E1E-9269-40192FE12EE4}" destId="{2FD92D3D-D486-47F1-B604-39D9DC06403D}" srcOrd="1" destOrd="0" presId="urn:microsoft.com/office/officeart/2018/2/layout/IconCircleList"/>
    <dgm:cxn modelId="{9733DB17-07D1-7647-A01B-747E788002F7}" type="presParOf" srcId="{7FD68CA7-EFC0-4E1E-9269-40192FE12EE4}" destId="{056B9966-5D2F-4CE6-A2A2-BE79CBF745BE}" srcOrd="2" destOrd="0" presId="urn:microsoft.com/office/officeart/2018/2/layout/IconCircleList"/>
    <dgm:cxn modelId="{D6233DE9-7C5D-8C45-8212-27BF27C761D3}" type="presParOf" srcId="{7FD68CA7-EFC0-4E1E-9269-40192FE12EE4}" destId="{F201ED9F-4288-4D8F-A885-C063D7C1455C}" srcOrd="3" destOrd="0" presId="urn:microsoft.com/office/officeart/2018/2/layout/IconCircleList"/>
    <dgm:cxn modelId="{DA827072-000E-874B-8607-DFAB7622201B}" type="presParOf" srcId="{72AE7565-27D1-4BFB-97C1-2700FF16A964}" destId="{1C101D8F-279A-4B7E-9120-2859322E98AB}" srcOrd="5" destOrd="0" presId="urn:microsoft.com/office/officeart/2018/2/layout/IconCircleList"/>
    <dgm:cxn modelId="{7DCF5EA7-BE88-F548-BE1E-81CEBCB71DB2}" type="presParOf" srcId="{72AE7565-27D1-4BFB-97C1-2700FF16A964}" destId="{8BF5FCE3-7C04-4159-AA13-31FB2900171B}" srcOrd="6" destOrd="0" presId="urn:microsoft.com/office/officeart/2018/2/layout/IconCircleList"/>
    <dgm:cxn modelId="{20436711-BF9D-FA4A-BB74-697556C17673}" type="presParOf" srcId="{8BF5FCE3-7C04-4159-AA13-31FB2900171B}" destId="{A8E9B660-BA96-4F43-8954-28D733BE5AEA}" srcOrd="0" destOrd="0" presId="urn:microsoft.com/office/officeart/2018/2/layout/IconCircleList"/>
    <dgm:cxn modelId="{5711FA47-C59B-C643-A77A-F0628B2EC282}" type="presParOf" srcId="{8BF5FCE3-7C04-4159-AA13-31FB2900171B}" destId="{37A606C4-0EC0-4D2F-86B4-B31D6C3D2F68}" srcOrd="1" destOrd="0" presId="urn:microsoft.com/office/officeart/2018/2/layout/IconCircleList"/>
    <dgm:cxn modelId="{AA9A322F-ECF0-4B41-9574-D45A78500371}" type="presParOf" srcId="{8BF5FCE3-7C04-4159-AA13-31FB2900171B}" destId="{E4D18846-6950-481C-BB3B-5EA859D2BE18}" srcOrd="2" destOrd="0" presId="urn:microsoft.com/office/officeart/2018/2/layout/IconCircleList"/>
    <dgm:cxn modelId="{5C380B2A-C918-5947-8561-F01B6609A481}" type="presParOf" srcId="{8BF5FCE3-7C04-4159-AA13-31FB2900171B}" destId="{993E1FEC-799D-418B-AC02-951D24A18A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D6C0C3-8AF9-4BD7-973D-AE40BE972035}" type="doc">
      <dgm:prSet loTypeId="urn:microsoft.com/office/officeart/2005/8/layout/default" loCatId="list" qsTypeId="urn:microsoft.com/office/officeart/2005/8/quickstyle/simple1#2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DA22C2E5-C53C-4FC5-8AFA-BC5A2759D860}">
      <dgm:prSet/>
      <dgm:spPr/>
      <dgm:t>
        <a:bodyPr/>
        <a:lstStyle/>
        <a:p>
          <a:r>
            <a:rPr lang="en-GB"/>
            <a:t>Renewable Energy Leadership: NextEra Energy is the world's largest producer of wind and solar energy.</a:t>
          </a:r>
          <a:endParaRPr lang="en-US"/>
        </a:p>
      </dgm:t>
    </dgm:pt>
    <dgm:pt modelId="{9DA20C37-1242-4126-9FE9-ACA011CBDCCC}" type="parTrans" cxnId="{0FC4F672-DA9A-4F79-AA79-9DFDD276E9DB}">
      <dgm:prSet/>
      <dgm:spPr/>
      <dgm:t>
        <a:bodyPr/>
        <a:lstStyle/>
        <a:p>
          <a:endParaRPr lang="en-US"/>
        </a:p>
      </dgm:t>
    </dgm:pt>
    <dgm:pt modelId="{9F2BB410-86C0-4490-9AA7-8AECF51E1100}" type="sibTrans" cxnId="{0FC4F672-DA9A-4F79-AA79-9DFDD276E9DB}">
      <dgm:prSet/>
      <dgm:spPr/>
      <dgm:t>
        <a:bodyPr/>
        <a:lstStyle/>
        <a:p>
          <a:endParaRPr lang="en-US"/>
        </a:p>
      </dgm:t>
    </dgm:pt>
    <dgm:pt modelId="{CC7B07F9-8EF2-48B4-80A0-E8E097337B2F}">
      <dgm:prSet/>
      <dgm:spPr/>
      <dgm:t>
        <a:bodyPr/>
        <a:lstStyle/>
        <a:p>
          <a:r>
            <a:rPr lang="en-GB"/>
            <a:t>Strong Market Position: Competes with major players like Duke Energy and Dominion Energy.</a:t>
          </a:r>
          <a:endParaRPr lang="en-US"/>
        </a:p>
      </dgm:t>
    </dgm:pt>
    <dgm:pt modelId="{77EA7732-385D-4873-B3A7-9C553EBC36D7}" type="parTrans" cxnId="{7822D5EA-119A-48D3-8565-17586FF08E8F}">
      <dgm:prSet/>
      <dgm:spPr/>
      <dgm:t>
        <a:bodyPr/>
        <a:lstStyle/>
        <a:p>
          <a:endParaRPr lang="en-US"/>
        </a:p>
      </dgm:t>
    </dgm:pt>
    <dgm:pt modelId="{EABB9EC8-5015-45D9-8AEC-5A6B11FD7600}" type="sibTrans" cxnId="{7822D5EA-119A-48D3-8565-17586FF08E8F}">
      <dgm:prSet/>
      <dgm:spPr/>
      <dgm:t>
        <a:bodyPr/>
        <a:lstStyle/>
        <a:p>
          <a:endParaRPr lang="en-US"/>
        </a:p>
      </dgm:t>
    </dgm:pt>
    <dgm:pt modelId="{D211742C-9D5F-4FBB-BACE-32E4D5CA75F1}">
      <dgm:prSet/>
      <dgm:spPr/>
      <dgm:t>
        <a:bodyPr/>
        <a:lstStyle/>
        <a:p>
          <a:r>
            <a:rPr lang="en-GB"/>
            <a:t>Growth Potential: Expanding its renewables portfolio with increasing demand for clean energy solutions.</a:t>
          </a:r>
          <a:endParaRPr lang="en-US"/>
        </a:p>
      </dgm:t>
    </dgm:pt>
    <dgm:pt modelId="{8F32AD99-1A98-4990-8E93-570CE77BF4BD}" type="parTrans" cxnId="{0378A1BC-3A64-4E3F-9B3E-3B1D618FC46C}">
      <dgm:prSet/>
      <dgm:spPr/>
      <dgm:t>
        <a:bodyPr/>
        <a:lstStyle/>
        <a:p>
          <a:endParaRPr lang="en-US"/>
        </a:p>
      </dgm:t>
    </dgm:pt>
    <dgm:pt modelId="{CD498ECF-4EDA-49CC-81B0-F3443095AFD4}" type="sibTrans" cxnId="{0378A1BC-3A64-4E3F-9B3E-3B1D618FC46C}">
      <dgm:prSet/>
      <dgm:spPr/>
      <dgm:t>
        <a:bodyPr/>
        <a:lstStyle/>
        <a:p>
          <a:endParaRPr lang="en-US"/>
        </a:p>
      </dgm:t>
    </dgm:pt>
    <dgm:pt modelId="{452C9032-CB0A-49A7-A530-96BAB6115B2D}">
      <dgm:prSet/>
      <dgm:spPr/>
      <dgm:t>
        <a:bodyPr/>
        <a:lstStyle/>
        <a:p>
          <a:r>
            <a:rPr lang="en-GB"/>
            <a:t>Technology &amp; Innovation: Investments in AI-driven energy solutions, battery storage, and hydrogen power.</a:t>
          </a:r>
          <a:endParaRPr lang="en-US"/>
        </a:p>
      </dgm:t>
    </dgm:pt>
    <dgm:pt modelId="{0B52F0B0-EFB9-4C1D-95AC-A3BDE1491533}" type="parTrans" cxnId="{A91BE7D7-E278-41DF-A5FA-51C7D1349EF6}">
      <dgm:prSet/>
      <dgm:spPr/>
      <dgm:t>
        <a:bodyPr/>
        <a:lstStyle/>
        <a:p>
          <a:endParaRPr lang="en-US"/>
        </a:p>
      </dgm:t>
    </dgm:pt>
    <dgm:pt modelId="{00639B58-47A7-44D5-B6A4-1BCCCD18D2F4}" type="sibTrans" cxnId="{A91BE7D7-E278-41DF-A5FA-51C7D1349EF6}">
      <dgm:prSet/>
      <dgm:spPr/>
      <dgm:t>
        <a:bodyPr/>
        <a:lstStyle/>
        <a:p>
          <a:endParaRPr lang="en-US"/>
        </a:p>
      </dgm:t>
    </dgm:pt>
    <dgm:pt modelId="{E87B2CB4-FA12-4E62-A6EF-4D6D0716E12A}">
      <dgm:prSet/>
      <dgm:spPr/>
      <dgm:t>
        <a:bodyPr/>
        <a:lstStyle/>
        <a:p>
          <a:r>
            <a:rPr lang="en-GB"/>
            <a:t>Regulatory Positioning: Benefiting from clean energy policies and tax incentives.</a:t>
          </a:r>
          <a:endParaRPr lang="en-US"/>
        </a:p>
      </dgm:t>
    </dgm:pt>
    <dgm:pt modelId="{F62D7F6B-527C-4F6F-A8CE-89C4612425DD}" type="parTrans" cxnId="{CDAF9BA4-2F40-4D8A-A37A-D743A858FE31}">
      <dgm:prSet/>
      <dgm:spPr/>
      <dgm:t>
        <a:bodyPr/>
        <a:lstStyle/>
        <a:p>
          <a:endParaRPr lang="en-US"/>
        </a:p>
      </dgm:t>
    </dgm:pt>
    <dgm:pt modelId="{3665E904-74B9-403E-B5FB-A69A38136536}" type="sibTrans" cxnId="{CDAF9BA4-2F40-4D8A-A37A-D743A858FE31}">
      <dgm:prSet/>
      <dgm:spPr/>
      <dgm:t>
        <a:bodyPr/>
        <a:lstStyle/>
        <a:p>
          <a:endParaRPr lang="en-US"/>
        </a:p>
      </dgm:t>
    </dgm:pt>
    <dgm:pt modelId="{11E494A1-C864-724F-8A6D-D142D2DBDA38}" type="pres">
      <dgm:prSet presAssocID="{86D6C0C3-8AF9-4BD7-973D-AE40BE972035}" presName="diagram" presStyleCnt="0">
        <dgm:presLayoutVars>
          <dgm:dir/>
          <dgm:resizeHandles val="exact"/>
        </dgm:presLayoutVars>
      </dgm:prSet>
      <dgm:spPr/>
    </dgm:pt>
    <dgm:pt modelId="{EF8BD489-78E3-BB4C-9285-B806B8D4B3C3}" type="pres">
      <dgm:prSet presAssocID="{DA22C2E5-C53C-4FC5-8AFA-BC5A2759D860}" presName="node" presStyleLbl="node1" presStyleIdx="0" presStyleCnt="5">
        <dgm:presLayoutVars>
          <dgm:bulletEnabled val="1"/>
        </dgm:presLayoutVars>
      </dgm:prSet>
      <dgm:spPr/>
    </dgm:pt>
    <dgm:pt modelId="{8C758843-3FC6-2A4D-ABDF-F316C790B979}" type="pres">
      <dgm:prSet presAssocID="{9F2BB410-86C0-4490-9AA7-8AECF51E1100}" presName="sibTrans" presStyleCnt="0"/>
      <dgm:spPr/>
    </dgm:pt>
    <dgm:pt modelId="{1E967547-6212-484A-BE47-A045176EA65B}" type="pres">
      <dgm:prSet presAssocID="{CC7B07F9-8EF2-48B4-80A0-E8E097337B2F}" presName="node" presStyleLbl="node1" presStyleIdx="1" presStyleCnt="5">
        <dgm:presLayoutVars>
          <dgm:bulletEnabled val="1"/>
        </dgm:presLayoutVars>
      </dgm:prSet>
      <dgm:spPr/>
    </dgm:pt>
    <dgm:pt modelId="{64129174-FD79-2F4E-BEC1-1900BE8F988D}" type="pres">
      <dgm:prSet presAssocID="{EABB9EC8-5015-45D9-8AEC-5A6B11FD7600}" presName="sibTrans" presStyleCnt="0"/>
      <dgm:spPr/>
    </dgm:pt>
    <dgm:pt modelId="{3CC20003-8C48-6E4E-93AE-4B99F9F1A49E}" type="pres">
      <dgm:prSet presAssocID="{D211742C-9D5F-4FBB-BACE-32E4D5CA75F1}" presName="node" presStyleLbl="node1" presStyleIdx="2" presStyleCnt="5">
        <dgm:presLayoutVars>
          <dgm:bulletEnabled val="1"/>
        </dgm:presLayoutVars>
      </dgm:prSet>
      <dgm:spPr/>
    </dgm:pt>
    <dgm:pt modelId="{4238B827-1994-4F43-8360-DB2EDC3D4F7D}" type="pres">
      <dgm:prSet presAssocID="{CD498ECF-4EDA-49CC-81B0-F3443095AFD4}" presName="sibTrans" presStyleCnt="0"/>
      <dgm:spPr/>
    </dgm:pt>
    <dgm:pt modelId="{7568D9C7-0480-D64B-9FE9-FDB5BF598C9D}" type="pres">
      <dgm:prSet presAssocID="{452C9032-CB0A-49A7-A530-96BAB6115B2D}" presName="node" presStyleLbl="node1" presStyleIdx="3" presStyleCnt="5">
        <dgm:presLayoutVars>
          <dgm:bulletEnabled val="1"/>
        </dgm:presLayoutVars>
      </dgm:prSet>
      <dgm:spPr/>
    </dgm:pt>
    <dgm:pt modelId="{BE654E3D-4665-4E4C-A566-1CE8D4F042BC}" type="pres">
      <dgm:prSet presAssocID="{00639B58-47A7-44D5-B6A4-1BCCCD18D2F4}" presName="sibTrans" presStyleCnt="0"/>
      <dgm:spPr/>
    </dgm:pt>
    <dgm:pt modelId="{7850AB6F-2B78-D842-8188-FD5183093076}" type="pres">
      <dgm:prSet presAssocID="{E87B2CB4-FA12-4E62-A6EF-4D6D0716E12A}" presName="node" presStyleLbl="node1" presStyleIdx="4" presStyleCnt="5">
        <dgm:presLayoutVars>
          <dgm:bulletEnabled val="1"/>
        </dgm:presLayoutVars>
      </dgm:prSet>
      <dgm:spPr/>
    </dgm:pt>
  </dgm:ptLst>
  <dgm:cxnLst>
    <dgm:cxn modelId="{812BC42A-7125-4D44-BBEC-E44DDD64C244}" type="presOf" srcId="{452C9032-CB0A-49A7-A530-96BAB6115B2D}" destId="{7568D9C7-0480-D64B-9FE9-FDB5BF598C9D}" srcOrd="0" destOrd="0" presId="urn:microsoft.com/office/officeart/2005/8/layout/default"/>
    <dgm:cxn modelId="{98E3BF42-488E-2B4B-B37F-6C3214026930}" type="presOf" srcId="{DA22C2E5-C53C-4FC5-8AFA-BC5A2759D860}" destId="{EF8BD489-78E3-BB4C-9285-B806B8D4B3C3}" srcOrd="0" destOrd="0" presId="urn:microsoft.com/office/officeart/2005/8/layout/default"/>
    <dgm:cxn modelId="{DE706467-1C69-BC4A-8F15-030946388FC4}" type="presOf" srcId="{CC7B07F9-8EF2-48B4-80A0-E8E097337B2F}" destId="{1E967547-6212-484A-BE47-A045176EA65B}" srcOrd="0" destOrd="0" presId="urn:microsoft.com/office/officeart/2005/8/layout/default"/>
    <dgm:cxn modelId="{0FC4F672-DA9A-4F79-AA79-9DFDD276E9DB}" srcId="{86D6C0C3-8AF9-4BD7-973D-AE40BE972035}" destId="{DA22C2E5-C53C-4FC5-8AFA-BC5A2759D860}" srcOrd="0" destOrd="0" parTransId="{9DA20C37-1242-4126-9FE9-ACA011CBDCCC}" sibTransId="{9F2BB410-86C0-4490-9AA7-8AECF51E1100}"/>
    <dgm:cxn modelId="{AFC45791-825C-674A-B57F-1089F6A30675}" type="presOf" srcId="{86D6C0C3-8AF9-4BD7-973D-AE40BE972035}" destId="{11E494A1-C864-724F-8A6D-D142D2DBDA38}" srcOrd="0" destOrd="0" presId="urn:microsoft.com/office/officeart/2005/8/layout/default"/>
    <dgm:cxn modelId="{CDAF9BA4-2F40-4D8A-A37A-D743A858FE31}" srcId="{86D6C0C3-8AF9-4BD7-973D-AE40BE972035}" destId="{E87B2CB4-FA12-4E62-A6EF-4D6D0716E12A}" srcOrd="4" destOrd="0" parTransId="{F62D7F6B-527C-4F6F-A8CE-89C4612425DD}" sibTransId="{3665E904-74B9-403E-B5FB-A69A38136536}"/>
    <dgm:cxn modelId="{28E642A6-3CC0-ED46-972E-4ECEBBCBEB6D}" type="presOf" srcId="{E87B2CB4-FA12-4E62-A6EF-4D6D0716E12A}" destId="{7850AB6F-2B78-D842-8188-FD5183093076}" srcOrd="0" destOrd="0" presId="urn:microsoft.com/office/officeart/2005/8/layout/default"/>
    <dgm:cxn modelId="{DDA951AF-1695-3E48-B7D6-D1132112E072}" type="presOf" srcId="{D211742C-9D5F-4FBB-BACE-32E4D5CA75F1}" destId="{3CC20003-8C48-6E4E-93AE-4B99F9F1A49E}" srcOrd="0" destOrd="0" presId="urn:microsoft.com/office/officeart/2005/8/layout/default"/>
    <dgm:cxn modelId="{0378A1BC-3A64-4E3F-9B3E-3B1D618FC46C}" srcId="{86D6C0C3-8AF9-4BD7-973D-AE40BE972035}" destId="{D211742C-9D5F-4FBB-BACE-32E4D5CA75F1}" srcOrd="2" destOrd="0" parTransId="{8F32AD99-1A98-4990-8E93-570CE77BF4BD}" sibTransId="{CD498ECF-4EDA-49CC-81B0-F3443095AFD4}"/>
    <dgm:cxn modelId="{A91BE7D7-E278-41DF-A5FA-51C7D1349EF6}" srcId="{86D6C0C3-8AF9-4BD7-973D-AE40BE972035}" destId="{452C9032-CB0A-49A7-A530-96BAB6115B2D}" srcOrd="3" destOrd="0" parTransId="{0B52F0B0-EFB9-4C1D-95AC-A3BDE1491533}" sibTransId="{00639B58-47A7-44D5-B6A4-1BCCCD18D2F4}"/>
    <dgm:cxn modelId="{7822D5EA-119A-48D3-8565-17586FF08E8F}" srcId="{86D6C0C3-8AF9-4BD7-973D-AE40BE972035}" destId="{CC7B07F9-8EF2-48B4-80A0-E8E097337B2F}" srcOrd="1" destOrd="0" parTransId="{77EA7732-385D-4873-B3A7-9C553EBC36D7}" sibTransId="{EABB9EC8-5015-45D9-8AEC-5A6B11FD7600}"/>
    <dgm:cxn modelId="{67F1B89B-8F8C-FE4B-8E61-B5FF2A782142}" type="presParOf" srcId="{11E494A1-C864-724F-8A6D-D142D2DBDA38}" destId="{EF8BD489-78E3-BB4C-9285-B806B8D4B3C3}" srcOrd="0" destOrd="0" presId="urn:microsoft.com/office/officeart/2005/8/layout/default"/>
    <dgm:cxn modelId="{56628573-296A-3345-A841-97BBA493C6B4}" type="presParOf" srcId="{11E494A1-C864-724F-8A6D-D142D2DBDA38}" destId="{8C758843-3FC6-2A4D-ABDF-F316C790B979}" srcOrd="1" destOrd="0" presId="urn:microsoft.com/office/officeart/2005/8/layout/default"/>
    <dgm:cxn modelId="{1151AB66-13C3-4A47-B8C4-E697E537B75F}" type="presParOf" srcId="{11E494A1-C864-724F-8A6D-D142D2DBDA38}" destId="{1E967547-6212-484A-BE47-A045176EA65B}" srcOrd="2" destOrd="0" presId="urn:microsoft.com/office/officeart/2005/8/layout/default"/>
    <dgm:cxn modelId="{06B59A2D-45A5-BB4C-8658-38A5D0189F1F}" type="presParOf" srcId="{11E494A1-C864-724F-8A6D-D142D2DBDA38}" destId="{64129174-FD79-2F4E-BEC1-1900BE8F988D}" srcOrd="3" destOrd="0" presId="urn:microsoft.com/office/officeart/2005/8/layout/default"/>
    <dgm:cxn modelId="{6D9EA93A-BDC7-9648-9727-BAC113B26AC8}" type="presParOf" srcId="{11E494A1-C864-724F-8A6D-D142D2DBDA38}" destId="{3CC20003-8C48-6E4E-93AE-4B99F9F1A49E}" srcOrd="4" destOrd="0" presId="urn:microsoft.com/office/officeart/2005/8/layout/default"/>
    <dgm:cxn modelId="{1ECFD04C-92AF-ED4E-812F-9E62D1688F1B}" type="presParOf" srcId="{11E494A1-C864-724F-8A6D-D142D2DBDA38}" destId="{4238B827-1994-4F43-8360-DB2EDC3D4F7D}" srcOrd="5" destOrd="0" presId="urn:microsoft.com/office/officeart/2005/8/layout/default"/>
    <dgm:cxn modelId="{7FE3CD1F-9644-6D42-813C-CF33E4BB25DB}" type="presParOf" srcId="{11E494A1-C864-724F-8A6D-D142D2DBDA38}" destId="{7568D9C7-0480-D64B-9FE9-FDB5BF598C9D}" srcOrd="6" destOrd="0" presId="urn:microsoft.com/office/officeart/2005/8/layout/default"/>
    <dgm:cxn modelId="{A757E80D-6829-7F43-95D0-3BAA6C7F801E}" type="presParOf" srcId="{11E494A1-C864-724F-8A6D-D142D2DBDA38}" destId="{BE654E3D-4665-4E4C-A566-1CE8D4F042BC}" srcOrd="7" destOrd="0" presId="urn:microsoft.com/office/officeart/2005/8/layout/default"/>
    <dgm:cxn modelId="{8971E36E-3BB6-504C-B206-A2181967E9D1}" type="presParOf" srcId="{11E494A1-C864-724F-8A6D-D142D2DBDA38}" destId="{7850AB6F-2B78-D842-8188-FD518309307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13F8C-B043-C64E-92CA-DE5F8D07F0BD}">
      <dsp:nvSpPr>
        <dsp:cNvPr id="0" name=""/>
        <dsp:cNvSpPr/>
      </dsp:nvSpPr>
      <dsp:spPr>
        <a:xfrm>
          <a:off x="0" y="2406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EA8B3A-8E3B-4E44-AED5-C4149F10F606}">
      <dsp:nvSpPr>
        <dsp:cNvPr id="0" name=""/>
        <dsp:cNvSpPr/>
      </dsp:nvSpPr>
      <dsp:spPr>
        <a:xfrm>
          <a:off x="0" y="2406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Mission Statement: </a:t>
          </a:r>
          <a:r>
            <a:rPr lang="en-US" sz="1700" kern="1200" dirty="0"/>
            <a:t>Drive a sustainable energy future with a commitment to innovation, clean energy, and operational excellence</a:t>
          </a:r>
        </a:p>
      </dsp:txBody>
      <dsp:txXfrm>
        <a:off x="0" y="2406"/>
        <a:ext cx="5607050" cy="820464"/>
      </dsp:txXfrm>
    </dsp:sp>
    <dsp:sp modelId="{F548D221-8394-EF46-9EC2-2DD75D617BBE}">
      <dsp:nvSpPr>
        <dsp:cNvPr id="0" name=""/>
        <dsp:cNvSpPr/>
      </dsp:nvSpPr>
      <dsp:spPr>
        <a:xfrm>
          <a:off x="0" y="82287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2070378"/>
                <a:satOff val="9172"/>
                <a:lumOff val="-337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070378"/>
                <a:satOff val="9172"/>
                <a:lumOff val="-337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070378"/>
                <a:satOff val="9172"/>
                <a:lumOff val="-337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070378"/>
              <a:satOff val="9172"/>
              <a:lumOff val="-3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8C45DE-F519-0B4D-B852-8D8B225A318F}">
      <dsp:nvSpPr>
        <dsp:cNvPr id="0" name=""/>
        <dsp:cNvSpPr/>
      </dsp:nvSpPr>
      <dsp:spPr>
        <a:xfrm>
          <a:off x="0" y="822870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Vision Statement: </a:t>
          </a:r>
          <a:r>
            <a:rPr lang="en-US" sz="1700" kern="1200" dirty="0"/>
            <a:t>Lead the transformation of the energy sector by advancing clean and reliable energy solutions</a:t>
          </a:r>
        </a:p>
      </dsp:txBody>
      <dsp:txXfrm>
        <a:off x="0" y="822870"/>
        <a:ext cx="5607050" cy="820464"/>
      </dsp:txXfrm>
    </dsp:sp>
    <dsp:sp modelId="{826F92C8-2C28-CF46-A7CE-A949E275C2CA}">
      <dsp:nvSpPr>
        <dsp:cNvPr id="0" name=""/>
        <dsp:cNvSpPr/>
      </dsp:nvSpPr>
      <dsp:spPr>
        <a:xfrm>
          <a:off x="0" y="1643335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4140756"/>
                <a:satOff val="18344"/>
                <a:lumOff val="-674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4140756"/>
                <a:satOff val="18344"/>
                <a:lumOff val="-674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4140756"/>
                <a:satOff val="18344"/>
                <a:lumOff val="-674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140756"/>
              <a:satOff val="18344"/>
              <a:lumOff val="-67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949111-809A-BE42-A5DC-F09DA4491EE4}">
      <dsp:nvSpPr>
        <dsp:cNvPr id="0" name=""/>
        <dsp:cNvSpPr/>
      </dsp:nvSpPr>
      <dsp:spPr>
        <a:xfrm>
          <a:off x="0" y="1643335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Values: </a:t>
          </a:r>
        </a:p>
      </dsp:txBody>
      <dsp:txXfrm>
        <a:off x="0" y="1643335"/>
        <a:ext cx="5607050" cy="820464"/>
      </dsp:txXfrm>
    </dsp:sp>
    <dsp:sp modelId="{5F437ED3-C288-EA45-8B20-51AE93AA5361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6211134"/>
                <a:satOff val="27515"/>
                <a:lumOff val="-1011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211134"/>
                <a:satOff val="27515"/>
                <a:lumOff val="-1011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211134"/>
                <a:satOff val="27515"/>
                <a:lumOff val="-1011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211134"/>
              <a:satOff val="27515"/>
              <a:lumOff val="-1011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9ABC4D-3CEA-B64C-9E37-D044946463C7}">
      <dsp:nvSpPr>
        <dsp:cNvPr id="0" name=""/>
        <dsp:cNvSpPr/>
      </dsp:nvSpPr>
      <dsp:spPr>
        <a:xfrm>
          <a:off x="0" y="2463799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Committed to Excellence </a:t>
          </a:r>
        </a:p>
      </dsp:txBody>
      <dsp:txXfrm>
        <a:off x="0" y="2463799"/>
        <a:ext cx="5607050" cy="820464"/>
      </dsp:txXfrm>
    </dsp:sp>
    <dsp:sp modelId="{40A466E6-CB3D-B04F-A288-578085E03A6E}">
      <dsp:nvSpPr>
        <dsp:cNvPr id="0" name=""/>
        <dsp:cNvSpPr/>
      </dsp:nvSpPr>
      <dsp:spPr>
        <a:xfrm>
          <a:off x="0" y="3284264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8281512"/>
                <a:satOff val="36687"/>
                <a:lumOff val="-1349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8281512"/>
                <a:satOff val="36687"/>
                <a:lumOff val="-1349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8281512"/>
                <a:satOff val="36687"/>
                <a:lumOff val="-1349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8281512"/>
              <a:satOff val="36687"/>
              <a:lumOff val="-1349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2CA0D5-6DF8-3F41-AD48-2531D3C45237}">
      <dsp:nvSpPr>
        <dsp:cNvPr id="0" name=""/>
        <dsp:cNvSpPr/>
      </dsp:nvSpPr>
      <dsp:spPr>
        <a:xfrm>
          <a:off x="0" y="3284264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Do the Right Thing</a:t>
          </a:r>
        </a:p>
      </dsp:txBody>
      <dsp:txXfrm>
        <a:off x="0" y="3284264"/>
        <a:ext cx="5607050" cy="820464"/>
      </dsp:txXfrm>
    </dsp:sp>
    <dsp:sp modelId="{2853B73D-390F-204C-8951-3ABD4F48B6E1}">
      <dsp:nvSpPr>
        <dsp:cNvPr id="0" name=""/>
        <dsp:cNvSpPr/>
      </dsp:nvSpPr>
      <dsp:spPr>
        <a:xfrm>
          <a:off x="0" y="410472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90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90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90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90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A72853-E041-D34F-93AF-326099313A44}">
      <dsp:nvSpPr>
        <dsp:cNvPr id="0" name=""/>
        <dsp:cNvSpPr/>
      </dsp:nvSpPr>
      <dsp:spPr>
        <a:xfrm>
          <a:off x="0" y="4104729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Treat People with Respect</a:t>
          </a:r>
        </a:p>
      </dsp:txBody>
      <dsp:txXfrm>
        <a:off x="0" y="4104729"/>
        <a:ext cx="5607050" cy="820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88206-8958-46DD-9546-AB7F0613A991}">
      <dsp:nvSpPr>
        <dsp:cNvPr id="0" name=""/>
        <dsp:cNvSpPr/>
      </dsp:nvSpPr>
      <dsp:spPr>
        <a:xfrm>
          <a:off x="437006" y="44518"/>
          <a:ext cx="1242801" cy="12428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71B7A-F35A-45FE-BB32-F73E63BBBD2F}">
      <dsp:nvSpPr>
        <dsp:cNvPr id="0" name=""/>
        <dsp:cNvSpPr/>
      </dsp:nvSpPr>
      <dsp:spPr>
        <a:xfrm>
          <a:off x="697995" y="305506"/>
          <a:ext cx="720824" cy="720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33662-9C8D-4268-89B7-D0DC076D5BA5}">
      <dsp:nvSpPr>
        <dsp:cNvPr id="0" name=""/>
        <dsp:cNvSpPr/>
      </dsp:nvSpPr>
      <dsp:spPr>
        <a:xfrm>
          <a:off x="1946122" y="44518"/>
          <a:ext cx="2929459" cy="1242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Florida Power &amp; Light (FPL): Largest electric utility in Florida, serving ~6 million customers.</a:t>
          </a:r>
          <a:endParaRPr lang="en-FR" sz="2000" kern="1200" dirty="0"/>
        </a:p>
      </dsp:txBody>
      <dsp:txXfrm>
        <a:off x="1946122" y="44518"/>
        <a:ext cx="2929459" cy="1242801"/>
      </dsp:txXfrm>
    </dsp:sp>
    <dsp:sp modelId="{F272633A-FB11-4490-981F-FA2E60B7B2A8}">
      <dsp:nvSpPr>
        <dsp:cNvPr id="0" name=""/>
        <dsp:cNvSpPr/>
      </dsp:nvSpPr>
      <dsp:spPr>
        <a:xfrm>
          <a:off x="5386018" y="44518"/>
          <a:ext cx="1242801" cy="12428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46057-908C-471C-86A2-BADB9F0205AD}">
      <dsp:nvSpPr>
        <dsp:cNvPr id="0" name=""/>
        <dsp:cNvSpPr/>
      </dsp:nvSpPr>
      <dsp:spPr>
        <a:xfrm>
          <a:off x="5647006" y="305506"/>
          <a:ext cx="720824" cy="720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351E4-7FD2-4345-A40C-DF694EEC46DD}">
      <dsp:nvSpPr>
        <dsp:cNvPr id="0" name=""/>
        <dsp:cNvSpPr/>
      </dsp:nvSpPr>
      <dsp:spPr>
        <a:xfrm>
          <a:off x="6895133" y="44518"/>
          <a:ext cx="2929459" cy="1242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NextEra Energy Resources (NEER): Leading renewable energy provider (wind, solar, battery storage).</a:t>
          </a:r>
          <a:endParaRPr lang="en-FR" sz="2000" kern="1200"/>
        </a:p>
      </dsp:txBody>
      <dsp:txXfrm>
        <a:off x="6895133" y="44518"/>
        <a:ext cx="2929459" cy="1242801"/>
      </dsp:txXfrm>
    </dsp:sp>
    <dsp:sp modelId="{B3AE1DB8-0F1B-4009-B9FD-A8A5C80A3EE1}">
      <dsp:nvSpPr>
        <dsp:cNvPr id="0" name=""/>
        <dsp:cNvSpPr/>
      </dsp:nvSpPr>
      <dsp:spPr>
        <a:xfrm>
          <a:off x="437006" y="1814655"/>
          <a:ext cx="1242801" cy="12428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92D3D-D486-47F1-B604-39D9DC06403D}">
      <dsp:nvSpPr>
        <dsp:cNvPr id="0" name=""/>
        <dsp:cNvSpPr/>
      </dsp:nvSpPr>
      <dsp:spPr>
        <a:xfrm>
          <a:off x="697995" y="2075643"/>
          <a:ext cx="720824" cy="720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1ED9F-4288-4D8F-A885-C063D7C1455C}">
      <dsp:nvSpPr>
        <dsp:cNvPr id="0" name=""/>
        <dsp:cNvSpPr/>
      </dsp:nvSpPr>
      <dsp:spPr>
        <a:xfrm>
          <a:off x="1946122" y="1814655"/>
          <a:ext cx="2929459" cy="1242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Infrastructure Investments: High-voltage transmission, hydrogen power, and battery storage projects.</a:t>
          </a:r>
          <a:endParaRPr lang="en-FR" sz="2000" kern="1200"/>
        </a:p>
      </dsp:txBody>
      <dsp:txXfrm>
        <a:off x="1946122" y="1814655"/>
        <a:ext cx="2929459" cy="1242801"/>
      </dsp:txXfrm>
    </dsp:sp>
    <dsp:sp modelId="{A8E9B660-BA96-4F43-8954-28D733BE5AEA}">
      <dsp:nvSpPr>
        <dsp:cNvPr id="0" name=""/>
        <dsp:cNvSpPr/>
      </dsp:nvSpPr>
      <dsp:spPr>
        <a:xfrm>
          <a:off x="5386018" y="1814655"/>
          <a:ext cx="1242801" cy="12428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606C4-0EC0-4D2F-86B4-B31D6C3D2F68}">
      <dsp:nvSpPr>
        <dsp:cNvPr id="0" name=""/>
        <dsp:cNvSpPr/>
      </dsp:nvSpPr>
      <dsp:spPr>
        <a:xfrm>
          <a:off x="5647006" y="2075643"/>
          <a:ext cx="720824" cy="720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E1FEC-799D-418B-AC02-951D24A18A32}">
      <dsp:nvSpPr>
        <dsp:cNvPr id="0" name=""/>
        <dsp:cNvSpPr/>
      </dsp:nvSpPr>
      <dsp:spPr>
        <a:xfrm>
          <a:off x="6895133" y="1814655"/>
          <a:ext cx="2929459" cy="1242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Energy Trading &amp; Wholesale Power: Strategic power supply services to utilities and large corporations.</a:t>
          </a:r>
          <a:endParaRPr lang="en-FR" sz="2000" kern="1200"/>
        </a:p>
      </dsp:txBody>
      <dsp:txXfrm>
        <a:off x="6895133" y="1814655"/>
        <a:ext cx="2929459" cy="12428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BD489-78E3-BB4C-9285-B806B8D4B3C3}">
      <dsp:nvSpPr>
        <dsp:cNvPr id="0" name=""/>
        <dsp:cNvSpPr/>
      </dsp:nvSpPr>
      <dsp:spPr>
        <a:xfrm>
          <a:off x="306677" y="1182"/>
          <a:ext cx="2637242" cy="15823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Renewable Energy Leadership: NextEra Energy is the world's largest producer of wind and solar energy.</a:t>
          </a:r>
          <a:endParaRPr lang="en-US" sz="1900" kern="1200"/>
        </a:p>
      </dsp:txBody>
      <dsp:txXfrm>
        <a:off x="306677" y="1182"/>
        <a:ext cx="2637242" cy="1582345"/>
      </dsp:txXfrm>
    </dsp:sp>
    <dsp:sp modelId="{1E967547-6212-484A-BE47-A045176EA65B}">
      <dsp:nvSpPr>
        <dsp:cNvPr id="0" name=""/>
        <dsp:cNvSpPr/>
      </dsp:nvSpPr>
      <dsp:spPr>
        <a:xfrm>
          <a:off x="3207643" y="1182"/>
          <a:ext cx="2637242" cy="15823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Strong Market Position: Competes with major players like Duke Energy and Dominion Energy.</a:t>
          </a:r>
          <a:endParaRPr lang="en-US" sz="1900" kern="1200"/>
        </a:p>
      </dsp:txBody>
      <dsp:txXfrm>
        <a:off x="3207643" y="1182"/>
        <a:ext cx="2637242" cy="1582345"/>
      </dsp:txXfrm>
    </dsp:sp>
    <dsp:sp modelId="{3CC20003-8C48-6E4E-93AE-4B99F9F1A49E}">
      <dsp:nvSpPr>
        <dsp:cNvPr id="0" name=""/>
        <dsp:cNvSpPr/>
      </dsp:nvSpPr>
      <dsp:spPr>
        <a:xfrm>
          <a:off x="306677" y="1847252"/>
          <a:ext cx="2637242" cy="15823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Growth Potential: Expanding its renewables portfolio with increasing demand for clean energy solutions.</a:t>
          </a:r>
          <a:endParaRPr lang="en-US" sz="1900" kern="1200"/>
        </a:p>
      </dsp:txBody>
      <dsp:txXfrm>
        <a:off x="306677" y="1847252"/>
        <a:ext cx="2637242" cy="1582345"/>
      </dsp:txXfrm>
    </dsp:sp>
    <dsp:sp modelId="{7568D9C7-0480-D64B-9FE9-FDB5BF598C9D}">
      <dsp:nvSpPr>
        <dsp:cNvPr id="0" name=""/>
        <dsp:cNvSpPr/>
      </dsp:nvSpPr>
      <dsp:spPr>
        <a:xfrm>
          <a:off x="3207643" y="1847252"/>
          <a:ext cx="2637242" cy="15823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Technology &amp; Innovation: Investments in AI-driven energy solutions, battery storage, and hydrogen power.</a:t>
          </a:r>
          <a:endParaRPr lang="en-US" sz="1900" kern="1200"/>
        </a:p>
      </dsp:txBody>
      <dsp:txXfrm>
        <a:off x="3207643" y="1847252"/>
        <a:ext cx="2637242" cy="1582345"/>
      </dsp:txXfrm>
    </dsp:sp>
    <dsp:sp modelId="{7850AB6F-2B78-D842-8188-FD5183093076}">
      <dsp:nvSpPr>
        <dsp:cNvPr id="0" name=""/>
        <dsp:cNvSpPr/>
      </dsp:nvSpPr>
      <dsp:spPr>
        <a:xfrm>
          <a:off x="1757160" y="3693321"/>
          <a:ext cx="2637242" cy="158234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Regulatory Positioning: Benefiting from clean energy policies and tax incentives.</a:t>
          </a:r>
          <a:endParaRPr lang="en-US" sz="1900" kern="1200"/>
        </a:p>
      </dsp:txBody>
      <dsp:txXfrm>
        <a:off x="1757160" y="3693321"/>
        <a:ext cx="2637242" cy="1582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A33-5265-5A49-9459-0CA948F88C18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111A0-0C16-6E42-977A-1187A9CA0CF6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0011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111A0-0C16-6E42-977A-1187A9CA0CF6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4216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111A0-0C16-6E42-977A-1187A9CA0CF6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8208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7685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5554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494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4909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4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863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2655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9697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4279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3960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9493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E0C0EC3-2C2B-2448-939C-7FF923FCF9B7}" type="datetimeFigureOut">
              <a:rPr lang="en-FR" smtClean="0"/>
              <a:t>28/08/2026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E276E1-9ACD-8846-88D6-A0BB70588EB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586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3093-0DBE-613F-F3BC-84F6252AD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2675" y="801722"/>
            <a:ext cx="8991600" cy="1645920"/>
          </a:xfrm>
        </p:spPr>
        <p:txBody>
          <a:bodyPr/>
          <a:lstStyle/>
          <a:p>
            <a:r>
              <a:rPr lang="en-FR" dirty="0">
                <a:latin typeface=""/>
              </a:rPr>
              <a:t>NextEra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8E344-B0E3-43E5-486C-C60F05DFE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2809053"/>
            <a:ext cx="6801612" cy="1239894"/>
          </a:xfrm>
        </p:spPr>
        <p:txBody>
          <a:bodyPr>
            <a:normAutofit lnSpcReduction="10000"/>
          </a:bodyPr>
          <a:lstStyle/>
          <a:p>
            <a:r>
              <a:rPr lang="en-FR" dirty="0"/>
              <a:t>Primer For Internal Use</a:t>
            </a:r>
          </a:p>
          <a:p>
            <a:r>
              <a:rPr lang="en-FR" dirty="0"/>
              <a:t>Prepared by Youssef Chebbi</a:t>
            </a:r>
          </a:p>
          <a:p>
            <a:r>
              <a:rPr lang="en-FR" dirty="0"/>
              <a:t>24/02/2025</a:t>
            </a:r>
          </a:p>
          <a:p>
            <a:endParaRPr lang="en-FR" dirty="0"/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7EDBCC47-7753-FDDE-7DBA-A4D24F8B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18" y="4048947"/>
            <a:ext cx="3354364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0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44C059E-9270-1D86-3027-DA32E569F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60" t="37940" r="20903" b="22421"/>
          <a:stretch/>
        </p:blipFill>
        <p:spPr>
          <a:xfrm>
            <a:off x="321733" y="4230361"/>
            <a:ext cx="4671595" cy="19805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2A9B402-66F6-477C-803C-FC8508A97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CD135-39C9-E9BA-F740-A49193CD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732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GB">
                <a:solidFill>
                  <a:srgbClr val="262626"/>
                </a:solidFill>
              </a:rPr>
              <a:t>C</a:t>
            </a:r>
            <a:r>
              <a:rPr lang="en-FR">
                <a:solidFill>
                  <a:srgbClr val="262626"/>
                </a:solidFill>
              </a:rPr>
              <a:t>ompany overview</a:t>
            </a:r>
          </a:p>
        </p:txBody>
      </p:sp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ED96EC0-65E0-1B0E-420D-D566DDDEB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3334"/>
            <a:ext cx="5285791" cy="28807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D36C-00AB-7830-EC17-802B8421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732" y="2858703"/>
            <a:ext cx="5285791" cy="30425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FR" sz="1700" b="1" dirty="0"/>
              <a:t>Founded:</a:t>
            </a:r>
            <a:r>
              <a:rPr lang="en-FR" sz="1700" dirty="0"/>
              <a:t> 1984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Headquarters: </a:t>
            </a:r>
            <a:r>
              <a:rPr lang="en-FR" sz="1700" dirty="0"/>
              <a:t>Juno Beach, Florida, USA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Market Cap:  </a:t>
            </a:r>
            <a:r>
              <a:rPr lang="en-FR" sz="1700" dirty="0"/>
              <a:t>$145 billion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Key Business Focus: </a:t>
            </a:r>
            <a:r>
              <a:rPr lang="en-FR" sz="1700" dirty="0"/>
              <a:t>Renewable Energy, Utilities, and Infrastructure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Mission: </a:t>
            </a:r>
            <a:r>
              <a:rPr lang="en-FR" sz="1700" dirty="0"/>
              <a:t>”To be the largest clean energy provider in the world”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Stock Ticker: </a:t>
            </a:r>
            <a:r>
              <a:rPr lang="en-FR" sz="1700" dirty="0"/>
              <a:t>NEE (NYSE)</a:t>
            </a:r>
          </a:p>
          <a:p>
            <a:pPr>
              <a:lnSpc>
                <a:spcPct val="90000"/>
              </a:lnSpc>
            </a:pPr>
            <a:r>
              <a:rPr lang="en-FR" sz="1700" b="1" dirty="0"/>
              <a:t>Employees:</a:t>
            </a:r>
            <a:r>
              <a:rPr lang="en-FR" sz="1700" dirty="0"/>
              <a:t> Over 16,000</a:t>
            </a:r>
          </a:p>
          <a:p>
            <a:pPr>
              <a:lnSpc>
                <a:spcPct val="90000"/>
              </a:lnSpc>
            </a:pPr>
            <a:endParaRPr lang="en-FR" sz="1700" dirty="0"/>
          </a:p>
        </p:txBody>
      </p:sp>
    </p:spTree>
    <p:extLst>
      <p:ext uri="{BB962C8B-B14F-4D97-AF65-F5344CB8AC3E}">
        <p14:creationId xmlns:p14="http://schemas.microsoft.com/office/powerpoint/2010/main" val="216008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FC9634-3DDF-470B-8F18-5B104CF97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77E501-B521-4B06-96AB-DC473865D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552D7-9309-A092-19FD-C6FFDFE5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FR">
                <a:solidFill>
                  <a:schemeClr val="bg1"/>
                </a:solidFill>
              </a:rPr>
              <a:t>Vision and values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FAE4A1-08EE-9083-F4FE-43244CC6F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08866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282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8C01-3FEA-9093-977E-C7CD1977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FR">
                <a:solidFill>
                  <a:srgbClr val="262626"/>
                </a:solidFill>
              </a:rPr>
              <a:t>Services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1E80F-B009-1D08-ECDF-70C2694EE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543317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635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836D221-E91F-4CA7-904A-D533B97F4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5EBD2-BC4A-1BF8-9F5E-6C9F23A2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3"/>
            <a:ext cx="3401568" cy="1495794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GB" sz="2400">
                <a:solidFill>
                  <a:srgbClr val="0D0D0D"/>
                </a:solidFill>
              </a:rPr>
              <a:t>M</a:t>
            </a:r>
            <a:r>
              <a:rPr lang="en-FR" sz="2400">
                <a:solidFill>
                  <a:srgbClr val="0D0D0D"/>
                </a:solidFill>
              </a:rPr>
              <a:t>arket position &amp; competitive advantage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3906AD-57D2-40AD-A4A4-DEE56613D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05DA1FC-981D-6582-B814-69B415779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87557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738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D8729-61A3-DE84-38E2-2F32A7FC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name&#10;&#10;Description automatically generated">
            <a:extLst>
              <a:ext uri="{FF2B5EF4-FFF2-40B4-BE49-F238E27FC236}">
                <a16:creationId xmlns:a16="http://schemas.microsoft.com/office/drawing/2014/main" id="{BC764DCC-BEFC-A443-7950-945BC769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13" b="2"/>
          <a:stretch/>
        </p:blipFill>
        <p:spPr>
          <a:xfrm>
            <a:off x="-9088" y="147024"/>
            <a:ext cx="5315041" cy="228600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BC4338A-B505-4F56-A233-2A7A820B0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E4FA8-3862-412D-551F-65199B58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732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FR" sz="2600">
                <a:solidFill>
                  <a:srgbClr val="262626"/>
                </a:solidFill>
              </a:rPr>
              <a:t>leadership</a:t>
            </a:r>
          </a:p>
        </p:txBody>
      </p:sp>
      <p:pic>
        <p:nvPicPr>
          <p:cNvPr id="9" name="Picture 8" descr="A person in a black robe&#10;&#10;Description automatically generated">
            <a:extLst>
              <a:ext uri="{FF2B5EF4-FFF2-40B4-BE49-F238E27FC236}">
                <a16:creationId xmlns:a16="http://schemas.microsoft.com/office/drawing/2014/main" id="{19640A6E-0D2F-CAF4-D0C8-E1ED45E534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58" b="3"/>
          <a:stretch/>
        </p:blipFill>
        <p:spPr>
          <a:xfrm>
            <a:off x="-1" y="4571997"/>
            <a:ext cx="5315041" cy="2286000"/>
          </a:xfrm>
          <a:prstGeom prst="rect">
            <a:avLst/>
          </a:prstGeom>
        </p:spPr>
      </p:pic>
      <p:pic>
        <p:nvPicPr>
          <p:cNvPr id="7" name="Picture 6" descr="A person in a suit&#10;&#10;Description automatically generated">
            <a:extLst>
              <a:ext uri="{FF2B5EF4-FFF2-40B4-BE49-F238E27FC236}">
                <a16:creationId xmlns:a16="http://schemas.microsoft.com/office/drawing/2014/main" id="{638E63DD-17BF-65C9-73CD-E3E3517D7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35" b="-1"/>
          <a:stretch/>
        </p:blipFill>
        <p:spPr>
          <a:xfrm>
            <a:off x="18214" y="2285995"/>
            <a:ext cx="5287739" cy="22859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FBC9-7445-65D7-CADB-81D7A882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732" y="2858703"/>
            <a:ext cx="5285791" cy="30425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>
                <a:solidFill>
                  <a:srgbClr val="FFFFFF"/>
                </a:solidFill>
              </a:rPr>
              <a:t>John W. Ketchum – CEO &amp; President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>
                <a:solidFill>
                  <a:srgbClr val="FFFFFF"/>
                </a:solidFill>
              </a:rPr>
              <a:t>Rebecca J. Kujawa – CFO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>
                <a:solidFill>
                  <a:srgbClr val="FFFFFF"/>
                </a:solidFill>
              </a:rPr>
              <a:t>Armando Pimentel – CEO, FPL</a:t>
            </a:r>
          </a:p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endParaRPr lang="en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4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58A8-187D-185E-791F-780398B2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687" y="62863"/>
            <a:ext cx="3516922" cy="101566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 dirty="0"/>
              <a:t>Financial 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F30027-8F78-4D8F-9B43-E1C8B4D50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354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table&#10;&#10;Description automatically generated">
            <a:extLst>
              <a:ext uri="{FF2B5EF4-FFF2-40B4-BE49-F238E27FC236}">
                <a16:creationId xmlns:a16="http://schemas.microsoft.com/office/drawing/2014/main" id="{A60A2A67-0CAA-040A-0C17-D93985BCA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55" y="1141389"/>
            <a:ext cx="7396920" cy="4937442"/>
          </a:xfrm>
          <a:prstGeom prst="rect">
            <a:avLst/>
          </a:prstGeom>
        </p:spPr>
      </p:pic>
      <p:pic>
        <p:nvPicPr>
          <p:cNvPr id="7" name="Picture 6" descr="A graph with purple and orange bars&#10;&#10;Description automatically generated">
            <a:extLst>
              <a:ext uri="{FF2B5EF4-FFF2-40B4-BE49-F238E27FC236}">
                <a16:creationId xmlns:a16="http://schemas.microsoft.com/office/drawing/2014/main" id="{7750D5A1-337E-D87E-E951-6F12A85D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073" y="4090037"/>
            <a:ext cx="4500072" cy="2705100"/>
          </a:xfrm>
          <a:prstGeom prst="rect">
            <a:avLst/>
          </a:prstGeom>
        </p:spPr>
      </p:pic>
      <p:pic>
        <p:nvPicPr>
          <p:cNvPr id="11" name="Picture 10" descr="A graph with blue and gray bars&#10;&#10;Description automatically generated">
            <a:extLst>
              <a:ext uri="{FF2B5EF4-FFF2-40B4-BE49-F238E27FC236}">
                <a16:creationId xmlns:a16="http://schemas.microsoft.com/office/drawing/2014/main" id="{45B6CD7F-E599-0452-8EE6-F879AF44E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829" y="1141389"/>
            <a:ext cx="4437043" cy="26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5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143F-5CCE-7934-BD3F-764EBD0C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152" y="163808"/>
            <a:ext cx="3044950" cy="1627792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Business model &amp; stock performance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BAAEF-3E73-4D85-9A3C-E40FEAFAE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number of bars&#10;&#10;Description automatically generated with medium confidence">
            <a:extLst>
              <a:ext uri="{FF2B5EF4-FFF2-40B4-BE49-F238E27FC236}">
                <a16:creationId xmlns:a16="http://schemas.microsoft.com/office/drawing/2014/main" id="{C0A7A175-A9F6-8D12-D7CC-D518161E8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437" y="1955409"/>
            <a:ext cx="4032380" cy="4902591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90A89E7B-87B2-35AE-0CC0-1EC0A88BD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40" t="39675" r="46486" b="50479"/>
          <a:stretch/>
        </p:blipFill>
        <p:spPr>
          <a:xfrm>
            <a:off x="6973758" y="578533"/>
            <a:ext cx="4806462" cy="933826"/>
          </a:xfrm>
          <a:prstGeom prst="rect">
            <a:avLst/>
          </a:prstGeom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76D382F9-3207-D806-4DFE-78B623D7A6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60" t="37068" r="23680" b="5495"/>
          <a:stretch/>
        </p:blipFill>
        <p:spPr>
          <a:xfrm>
            <a:off x="5148011" y="2228850"/>
            <a:ext cx="6632209" cy="43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0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9039-D240-A5CA-73F8-CFED2AE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GB" sz="2600"/>
              <a:t>C</a:t>
            </a:r>
            <a:r>
              <a:rPr lang="en-FR" sz="2600"/>
              <a:t>ash flow &amp; investment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7AB3-BB25-5CF7-AF97-7E9740EF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Operating Cash Flow (2024):</a:t>
            </a:r>
            <a:r>
              <a:rPr lang="en-GB" dirty="0"/>
              <a:t> $13.26 Billion (</a:t>
            </a:r>
            <a:r>
              <a:rPr lang="en-GB" b="1" dirty="0"/>
              <a:t>↑ from $11.3B in 2023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Capital Expenditures:</a:t>
            </a:r>
            <a:r>
              <a:rPr lang="en-GB" dirty="0"/>
              <a:t> $8.2 Billion (</a:t>
            </a:r>
            <a:r>
              <a:rPr lang="en-GB" b="1" dirty="0"/>
              <a:t>Renewables &amp; Grid Expansion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Debt Levels:</a:t>
            </a:r>
            <a:r>
              <a:rPr lang="en-GB" dirty="0"/>
              <a:t> Increased from </a:t>
            </a:r>
            <a:r>
              <a:rPr lang="en-GB" b="1" dirty="0"/>
              <a:t>$61.4B to $72.4B</a:t>
            </a:r>
            <a:r>
              <a:rPr lang="en-GB" dirty="0"/>
              <a:t> (due to expansion).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Dividend Growth:</a:t>
            </a:r>
            <a:r>
              <a:rPr lang="en-GB" dirty="0"/>
              <a:t> 10% increase, reflecting strong investor returns.</a:t>
            </a:r>
          </a:p>
          <a:p>
            <a:endParaRPr lang="en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B44D6C-A194-4C92-A608-1AA2CC599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762A7-CE84-40FE-9B97-D3C158A3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e chart with numbers and a number on it&#10;&#10;Description automatically generated">
            <a:extLst>
              <a:ext uri="{FF2B5EF4-FFF2-40B4-BE49-F238E27FC236}">
                <a16:creationId xmlns:a16="http://schemas.microsoft.com/office/drawing/2014/main" id="{DB45C664-3DF9-E0D1-497E-6BECBDC9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9" y="1330319"/>
            <a:ext cx="4782312" cy="420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25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4295</TotalTime>
  <Words>365</Words>
  <Application>Microsoft Macintosh PowerPoint</Application>
  <PresentationFormat>Widescreen</PresentationFormat>
  <Paragraphs>43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Gill Sans MT</vt:lpstr>
      <vt:lpstr>Parcel</vt:lpstr>
      <vt:lpstr>NextEra Energy</vt:lpstr>
      <vt:lpstr>Company overview</vt:lpstr>
      <vt:lpstr>Vision and values</vt:lpstr>
      <vt:lpstr>Services</vt:lpstr>
      <vt:lpstr>Market position &amp; competitive advantage</vt:lpstr>
      <vt:lpstr>leadership</vt:lpstr>
      <vt:lpstr>Financial Performance</vt:lpstr>
      <vt:lpstr>Business model &amp; stock performance</vt:lpstr>
      <vt:lpstr>Cash flow &amp; investment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Chebbi</dc:creator>
  <cp:lastModifiedBy>Youssef Chebbi</cp:lastModifiedBy>
  <cp:revision>6</cp:revision>
  <dcterms:created xsi:type="dcterms:W3CDTF">2025-02-21T16:08:01Z</dcterms:created>
  <dcterms:modified xsi:type="dcterms:W3CDTF">2026-08-28T10:54:46Z</dcterms:modified>
</cp:coreProperties>
</file>